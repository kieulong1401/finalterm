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07" r:id="rId2"/>
    <p:sldId id="295" r:id="rId3"/>
    <p:sldId id="390" r:id="rId4"/>
    <p:sldId id="395" r:id="rId5"/>
    <p:sldId id="396" r:id="rId6"/>
    <p:sldId id="397" r:id="rId7"/>
    <p:sldId id="415" r:id="rId8"/>
    <p:sldId id="399" r:id="rId9"/>
    <p:sldId id="400" r:id="rId10"/>
    <p:sldId id="387" r:id="rId11"/>
    <p:sldId id="401" r:id="rId12"/>
    <p:sldId id="402" r:id="rId13"/>
    <p:sldId id="388" r:id="rId14"/>
    <p:sldId id="389" r:id="rId15"/>
    <p:sldId id="416" r:id="rId16"/>
    <p:sldId id="414" r:id="rId17"/>
    <p:sldId id="382" r:id="rId18"/>
    <p:sldId id="417" r:id="rId19"/>
    <p:sldId id="418" r:id="rId20"/>
    <p:sldId id="381" r:id="rId21"/>
    <p:sldId id="385" r:id="rId22"/>
    <p:sldId id="393" r:id="rId23"/>
    <p:sldId id="413" r:id="rId24"/>
    <p:sldId id="412" r:id="rId25"/>
    <p:sldId id="384" r:id="rId26"/>
    <p:sldId id="305" r:id="rId27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92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 showGuides="1">
      <p:cViewPr varScale="1">
        <p:scale>
          <a:sx n="120" d="100"/>
          <a:sy n="120" d="100"/>
        </p:scale>
        <p:origin x="14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5" d="100"/>
          <a:sy n="85" d="100"/>
        </p:scale>
        <p:origin x="-3150" y="-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250D2-AEE8-497D-A705-617899345BC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509582-EFCA-47F2-B934-0D21FEB02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7217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310264-B447-455F-BB63-6CC3565BF3B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8844E-B6EA-4CE8-B3A6-82CBD8BDF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7333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D5EB8F-0F2E-463C-B233-635979BB3B26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02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914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24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138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19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C7AB-EDCC-4D58-B17A-EAE53210D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38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C7AB-EDCC-4D58-B17A-EAE53210D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771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C7AB-EDCC-4D58-B17A-EAE53210D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39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C7AB-EDCC-4D58-B17A-EAE53210D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13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C7AB-EDCC-4D58-B17A-EAE53210D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45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C7AB-EDCC-4D58-B17A-EAE53210D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578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C7AB-EDCC-4D58-B17A-EAE53210D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087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110" y="2103718"/>
            <a:ext cx="7651989" cy="244406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4"/>
          <a:srcRect t="12211"/>
          <a:stretch/>
        </p:blipFill>
        <p:spPr>
          <a:xfrm>
            <a:off x="274918" y="471805"/>
            <a:ext cx="8869082" cy="3054265"/>
          </a:xfrm>
          <a:prstGeom prst="rect">
            <a:avLst/>
          </a:prstGeom>
        </p:spPr>
      </p:pic>
      <p:pic>
        <p:nvPicPr>
          <p:cNvPr id="33" name="그림 32" descr="1-1.png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1757" y="1995283"/>
            <a:ext cx="1726942" cy="1716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그림 33" descr="1-4.png"/>
          <p:cNvPicPr>
            <a:picLocks noChangeAspect="1"/>
          </p:cNvPicPr>
          <p:nvPr userDrawn="1"/>
        </p:nvPicPr>
        <p:blipFill>
          <a:blip r:embed="rId6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131" t="1385" r="32597" b="62077"/>
          <a:stretch>
            <a:fillRect/>
          </a:stretch>
        </p:blipFill>
        <p:spPr bwMode="auto">
          <a:xfrm>
            <a:off x="3737518" y="2133868"/>
            <a:ext cx="1409150" cy="1415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그림 34" descr="1-6.png"/>
          <p:cNvPicPr>
            <a:picLocks noChangeAspect="1"/>
          </p:cNvPicPr>
          <p:nvPr userDrawn="1"/>
        </p:nvPicPr>
        <p:blipFill>
          <a:blip r:embed="rId6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90" t="1039" r="32079" b="62424"/>
          <a:stretch>
            <a:fillRect/>
          </a:stretch>
        </p:blipFill>
        <p:spPr bwMode="auto">
          <a:xfrm>
            <a:off x="3831391" y="1978559"/>
            <a:ext cx="1669156" cy="166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1" y="1756032"/>
            <a:ext cx="8169594" cy="51351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49"/>
          <a:stretch/>
        </p:blipFill>
        <p:spPr>
          <a:xfrm>
            <a:off x="4127902" y="2574691"/>
            <a:ext cx="5011241" cy="387308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52745" y="6148341"/>
            <a:ext cx="1840807" cy="37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3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 0.11227 L 2.22222E-6 -4.07407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-562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153 0.00394 L 0.00104 -0.00139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24" y="-27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8.33333E-7 -3.7037E-6 L -0.12743 -0.06944 " pathEditMode="relative" rAng="0" ptsTypes="AA">
                                      <p:cBhvr>
                                        <p:cTn id="19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72" y="-34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4400000">
                                      <p:cBhvr>
                                        <p:cTn id="37" dur="3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3.88889E-6 -1.85185E-6 L 0.02362 -1.85185E-6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1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02362 -1.85185E-6 L -0.06302 -1.85185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40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3.05556E-6 -7.40741E-7 L 0.0474 -7.40741E-7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1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C7AB-EDCC-4D58-B17A-EAE53210D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65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ueewon@naver.co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499992" y="557315"/>
            <a:ext cx="40679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글쓰기의 기초</a:t>
            </a:r>
            <a:endParaRPr lang="ko-KR" altLang="en-US" sz="4400" spc="-1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2780928"/>
            <a:ext cx="4932040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>
                <a:solidFill>
                  <a:srgbClr val="00B0F0"/>
                </a:solidFill>
                <a:latin typeface="+mj-ea"/>
              </a:rPr>
              <a:t>수업시간</a:t>
            </a:r>
            <a:r>
              <a:rPr lang="en-US" altLang="ko-KR" sz="2400" b="1">
                <a:solidFill>
                  <a:srgbClr val="002060"/>
                </a:solidFill>
                <a:latin typeface="+mj-ea"/>
              </a:rPr>
              <a:t>: </a:t>
            </a:r>
            <a:r>
              <a:rPr lang="ko-KR" altLang="en-US" sz="2400" b="1">
                <a:solidFill>
                  <a:srgbClr val="002060"/>
                </a:solidFill>
                <a:latin typeface="+mj-ea"/>
              </a:rPr>
              <a:t>화 </a:t>
            </a:r>
            <a:r>
              <a:rPr lang="en-US" altLang="ko-KR" sz="2400" b="1" smtClean="0">
                <a:solidFill>
                  <a:srgbClr val="002060"/>
                </a:solidFill>
                <a:ea typeface="KoPub돋움체 Light" panose="02020603020101020101"/>
              </a:rPr>
              <a:t>07~10-[E2]</a:t>
            </a:r>
          </a:p>
          <a:p>
            <a:pPr>
              <a:lnSpc>
                <a:spcPct val="150000"/>
              </a:lnSpc>
            </a:pPr>
            <a:r>
              <a:rPr lang="en-US" altLang="ko-KR" sz="2400" b="1">
                <a:solidFill>
                  <a:srgbClr val="002060"/>
                </a:solidFill>
                <a:ea typeface="KoPub돋움체 Light" panose="02020603020101020101"/>
              </a:rPr>
              <a:t> </a:t>
            </a:r>
            <a:r>
              <a:rPr lang="en-US" altLang="ko-KR" sz="2400" b="1" smtClean="0">
                <a:solidFill>
                  <a:srgbClr val="002060"/>
                </a:solidFill>
                <a:ea typeface="KoPub돋움체 Light" panose="02020603020101020101"/>
              </a:rPr>
              <a:t>                11~14-[D4]</a:t>
            </a:r>
            <a:endParaRPr lang="en-US" altLang="ko-KR" sz="2400" b="1">
              <a:solidFill>
                <a:srgbClr val="002060"/>
              </a:solidFill>
              <a:ea typeface="KoPub돋움체 Light" panose="02020603020101020101"/>
            </a:endParaRPr>
          </a:p>
          <a:p>
            <a:pPr>
              <a:lnSpc>
                <a:spcPct val="150000"/>
              </a:lnSpc>
            </a:pPr>
            <a:r>
              <a:rPr lang="ko-KR" altLang="en-US" sz="2400" b="1">
                <a:solidFill>
                  <a:srgbClr val="00B0F0"/>
                </a:solidFill>
                <a:latin typeface="+mj-ea"/>
              </a:rPr>
              <a:t>강의실</a:t>
            </a:r>
            <a:r>
              <a:rPr lang="en-US" altLang="ko-KR" sz="2400" b="1">
                <a:solidFill>
                  <a:srgbClr val="002060"/>
                </a:solidFill>
                <a:latin typeface="+mj-ea"/>
              </a:rPr>
              <a:t>: </a:t>
            </a:r>
            <a:r>
              <a:rPr lang="ko-KR" altLang="en-US" sz="2400" b="1">
                <a:solidFill>
                  <a:srgbClr val="002060"/>
                </a:solidFill>
                <a:latin typeface="+mn-ea"/>
              </a:rPr>
              <a:t>만우관 </a:t>
            </a:r>
            <a:r>
              <a:rPr lang="en-US" altLang="ko-KR" sz="2400" b="1">
                <a:solidFill>
                  <a:srgbClr val="002060"/>
                </a:solidFill>
                <a:latin typeface="+mn-ea"/>
              </a:rPr>
              <a:t>3407</a:t>
            </a:r>
          </a:p>
          <a:p>
            <a:pPr>
              <a:lnSpc>
                <a:spcPct val="150000"/>
              </a:lnSpc>
            </a:pPr>
            <a:r>
              <a:rPr lang="ko-KR" altLang="en-US" sz="2400" b="1">
                <a:solidFill>
                  <a:srgbClr val="00B0F0"/>
                </a:solidFill>
                <a:latin typeface="+mj-ea"/>
              </a:rPr>
              <a:t>이메일</a:t>
            </a:r>
            <a:r>
              <a:rPr lang="en-US" altLang="ko-KR" sz="2400" b="1">
                <a:solidFill>
                  <a:srgbClr val="002060"/>
                </a:solidFill>
                <a:latin typeface="+mj-ea"/>
              </a:rPr>
              <a:t>: ueewon@naver.com</a:t>
            </a:r>
            <a:endParaRPr lang="en-US" altLang="ko-KR" sz="2400" b="1">
              <a:solidFill>
                <a:srgbClr val="002060"/>
              </a:solidFill>
              <a:ea typeface="KoPub돋움체 Light" panose="02020603020101020101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99992" y="69444"/>
            <a:ext cx="15440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pc="-150" dirty="0" err="1" smtClean="0">
                <a:solidFill>
                  <a:srgbClr val="0070C0"/>
                </a:solidFill>
                <a:latin typeface="+mn-ea"/>
              </a:rPr>
              <a:t>교과목명</a:t>
            </a:r>
            <a:endParaRPr lang="ko-KR" altLang="en-US" sz="2800" spc="-15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32593"/>
            <a:ext cx="1699543" cy="9201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64303" y="2780928"/>
            <a:ext cx="1327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150" dirty="0" smtClean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</a:t>
            </a:r>
            <a:endParaRPr lang="ko-KR" altLang="en-US" sz="2000" spc="-150" dirty="0">
              <a:solidFill>
                <a:srgbClr val="0070C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03428" y="1875797"/>
            <a:ext cx="2526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pc="-150" dirty="0" err="1" smtClean="0">
                <a:solidFill>
                  <a:srgbClr val="0070C0"/>
                </a:solidFill>
                <a:latin typeface="+mj-ea"/>
                <a:ea typeface="+mj-ea"/>
              </a:rPr>
              <a:t>교수명</a:t>
            </a:r>
            <a:r>
              <a:rPr lang="ko-KR" altLang="en-US" sz="2800" spc="-150" dirty="0" smtClean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en-US" altLang="ko-KR" sz="2800" spc="-150" dirty="0" smtClean="0">
                <a:solidFill>
                  <a:srgbClr val="0070C0"/>
                </a:solidFill>
                <a:latin typeface="+mj-ea"/>
                <a:ea typeface="+mj-ea"/>
              </a:rPr>
              <a:t>: </a:t>
            </a:r>
            <a:r>
              <a:rPr lang="ko-KR" altLang="en-US" sz="2800" spc="-150" dirty="0" smtClean="0">
                <a:solidFill>
                  <a:srgbClr val="0070C0"/>
                </a:solidFill>
                <a:latin typeface="+mj-ea"/>
                <a:ea typeface="+mj-ea"/>
              </a:rPr>
              <a:t>유예원</a:t>
            </a:r>
            <a:endParaRPr lang="ko-KR" altLang="en-US" sz="28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0330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-201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067944" y="71815"/>
            <a:ext cx="8643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목차</a:t>
            </a:r>
            <a:endParaRPr lang="en-US" altLang="ko-KR" sz="2800" spc="-150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ko-KR" altLang="en-US" sz="2800" spc="-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358" y="-171400"/>
            <a:ext cx="893850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 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지금 내 기분은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?+ ice 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breaking</a:t>
            </a:r>
          </a:p>
          <a:p>
            <a:pPr marL="514350" indent="-514350">
              <a:buAutoNum type="arabicPeriod"/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AS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혹은 수미상관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시소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VS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그네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자산형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VS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현금흐름성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                     ++)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학기 당부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마음을 움직이는 글쓰기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514350" indent="-514350">
              <a:buAutoNum type="arabicPeriod" startAt="2"/>
            </a:pP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공지사항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3. 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맞춤법 퀴즈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+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학기 말 활동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</a:p>
          <a:p>
            <a:pPr marL="514350" indent="-514350">
              <a:buAutoNum type="arabicPeriod" startAt="4"/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교재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살피기 </a:t>
            </a:r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5.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개별 실습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논증문 작성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+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설문조사 참여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929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23575" y="7285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36349" y="513072"/>
            <a:ext cx="8901808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smtClean="0"/>
              <a:t>0.  </a:t>
            </a:r>
            <a:r>
              <a:rPr lang="ko-KR" altLang="en-US" sz="2300" b="1" smtClean="0"/>
              <a:t>책 </a:t>
            </a:r>
            <a:r>
              <a:rPr lang="en-US" altLang="ko-KR" sz="2300" b="1" smtClean="0"/>
              <a:t>/ </a:t>
            </a:r>
            <a:r>
              <a:rPr lang="ko-KR" altLang="en-US" sz="2300" b="1" smtClean="0"/>
              <a:t>다니카와</a:t>
            </a:r>
            <a:r>
              <a:rPr lang="en-US" altLang="ko-KR" sz="2300" b="1" smtClean="0"/>
              <a:t> </a:t>
            </a:r>
            <a:r>
              <a:rPr lang="ko-KR" altLang="en-US" sz="2300" b="1" smtClean="0"/>
              <a:t>슌타로   </a:t>
            </a:r>
            <a:r>
              <a:rPr lang="en-US" altLang="ko-KR" smtClean="0">
                <a:latin typeface="+mj-lt"/>
              </a:rPr>
              <a:t># </a:t>
            </a:r>
            <a:r>
              <a:rPr lang="ko-KR" altLang="en-US" smtClean="0">
                <a:latin typeface="+mj-lt"/>
              </a:rPr>
              <a:t>작사   </a:t>
            </a:r>
            <a:r>
              <a:rPr lang="en-US" altLang="ko-KR" smtClean="0">
                <a:latin typeface="+mj-lt"/>
              </a:rPr>
              <a:t>#</a:t>
            </a:r>
            <a:r>
              <a:rPr lang="ko-KR" altLang="en-US" smtClean="0">
                <a:latin typeface="+mj-lt"/>
              </a:rPr>
              <a:t>우주소년 아톰  </a:t>
            </a:r>
            <a:r>
              <a:rPr lang="en-US" altLang="ko-KR" smtClean="0">
                <a:latin typeface="+mj-lt"/>
              </a:rPr>
              <a:t>#</a:t>
            </a:r>
            <a:r>
              <a:rPr lang="ko-KR" altLang="en-US" smtClean="0">
                <a:latin typeface="+mj-lt"/>
              </a:rPr>
              <a:t>하울의 움직이는 성</a:t>
            </a:r>
            <a:endParaRPr lang="en-US" altLang="ko-KR" smtClean="0">
              <a:latin typeface="+mj-lt"/>
            </a:endParaRPr>
          </a:p>
          <a:p>
            <a:r>
              <a:rPr lang="en-US" altLang="ko-KR">
                <a:latin typeface="+mj-lt"/>
              </a:rPr>
              <a:t> </a:t>
            </a:r>
            <a:r>
              <a:rPr lang="en-US" altLang="ko-KR" smtClean="0">
                <a:latin typeface="+mj-lt"/>
              </a:rPr>
              <a:t>                                           # </a:t>
            </a:r>
            <a:r>
              <a:rPr lang="ko-KR" altLang="en-US" smtClean="0">
                <a:latin typeface="+mj-lt"/>
              </a:rPr>
              <a:t>조금 기뻤다  </a:t>
            </a:r>
            <a:r>
              <a:rPr lang="en-US" altLang="ko-KR" smtClean="0">
                <a:latin typeface="+mj-lt"/>
              </a:rPr>
              <a:t>#</a:t>
            </a:r>
            <a:r>
              <a:rPr lang="ko-KR" altLang="en-US" smtClean="0">
                <a:latin typeface="+mj-lt"/>
              </a:rPr>
              <a:t> 있는 그대로보다  </a:t>
            </a:r>
            <a:r>
              <a:rPr lang="en-US" altLang="ko-KR" smtClean="0">
                <a:latin typeface="+mj-lt"/>
              </a:rPr>
              <a:t>#</a:t>
            </a:r>
            <a:r>
              <a:rPr lang="ko-KR" altLang="en-US" smtClean="0">
                <a:latin typeface="+mj-lt"/>
              </a:rPr>
              <a:t>읽어준다 </a:t>
            </a:r>
            <a:endParaRPr lang="ko-KR" altLang="en-US">
              <a:latin typeface="+mj-lt"/>
            </a:endParaRPr>
          </a:p>
          <a:p>
            <a:r>
              <a:rPr lang="ko-KR" altLang="en-US" sz="2300" smtClean="0">
                <a:solidFill>
                  <a:srgbClr val="3399FF"/>
                </a:solidFill>
              </a:rPr>
              <a:t>솔직히 </a:t>
            </a:r>
            <a:r>
              <a:rPr lang="ko-KR" altLang="en-US" sz="2300">
                <a:solidFill>
                  <a:srgbClr val="3399FF"/>
                </a:solidFill>
              </a:rPr>
              <a:t>말해서</a:t>
            </a:r>
          </a:p>
          <a:p>
            <a:r>
              <a:rPr lang="ko-KR" altLang="en-US" sz="2300"/>
              <a:t>책은 흰 종이로 있는 게 좋았다</a:t>
            </a:r>
          </a:p>
          <a:p>
            <a:r>
              <a:rPr lang="ko-KR" altLang="en-US" sz="2300"/>
              <a:t>더 솔직히 말하면</a:t>
            </a:r>
          </a:p>
          <a:p>
            <a:r>
              <a:rPr lang="ko-KR" altLang="en-US" sz="2300"/>
              <a:t>푸른 잎이 우거진 나무로 있고 싶었다</a:t>
            </a:r>
          </a:p>
          <a:p>
            <a:endParaRPr lang="ko-KR" altLang="en-US" sz="2300"/>
          </a:p>
          <a:p>
            <a:r>
              <a:rPr lang="ko-KR" altLang="en-US" sz="2300">
                <a:solidFill>
                  <a:srgbClr val="3399FF"/>
                </a:solidFill>
              </a:rPr>
              <a:t>그러나 벌써 책이 되고 말았으니</a:t>
            </a:r>
          </a:p>
          <a:p>
            <a:r>
              <a:rPr lang="ko-KR" altLang="en-US" sz="2300">
                <a:solidFill>
                  <a:srgbClr val="3399FF"/>
                </a:solidFill>
              </a:rPr>
              <a:t>옛날의 일을 잊어버리려고</a:t>
            </a:r>
          </a:p>
          <a:p>
            <a:r>
              <a:rPr lang="ko-KR" altLang="en-US" sz="2300"/>
              <a:t>책은 자신을 읽어보았다</a:t>
            </a:r>
          </a:p>
          <a:p>
            <a:r>
              <a:rPr lang="en-US" altLang="ko-KR" sz="2300"/>
              <a:t>'</a:t>
            </a:r>
            <a:r>
              <a:rPr lang="ko-KR" altLang="en-US" sz="2300"/>
              <a:t>솔직히 흰 종이로 있는 게 좋았다</a:t>
            </a:r>
            <a:r>
              <a:rPr lang="en-US" altLang="ko-KR" sz="2300"/>
              <a:t>'</a:t>
            </a:r>
            <a:r>
              <a:rPr lang="ko-KR" altLang="en-US" sz="2300"/>
              <a:t>고</a:t>
            </a:r>
          </a:p>
          <a:p>
            <a:r>
              <a:rPr lang="ko-KR" altLang="en-US" sz="2300"/>
              <a:t>검은색 활자로 쓰여 있다</a:t>
            </a:r>
          </a:p>
          <a:p>
            <a:endParaRPr lang="ko-KR" altLang="en-US" sz="2300"/>
          </a:p>
          <a:p>
            <a:r>
              <a:rPr lang="ko-KR" altLang="en-US" sz="2300">
                <a:solidFill>
                  <a:srgbClr val="3399FF"/>
                </a:solidFill>
              </a:rPr>
              <a:t>나쁘지 않다고 책은 생각했다</a:t>
            </a:r>
          </a:p>
          <a:p>
            <a:r>
              <a:rPr lang="ko-KR" altLang="en-US" sz="2300">
                <a:solidFill>
                  <a:srgbClr val="3399FF"/>
                </a:solidFill>
              </a:rPr>
              <a:t>내 마음을 모두가 읽어준다</a:t>
            </a:r>
          </a:p>
          <a:p>
            <a:r>
              <a:rPr lang="ko-KR" altLang="en-US" sz="2300"/>
              <a:t>책은 책으로 있는 게</a:t>
            </a:r>
          </a:p>
          <a:p>
            <a:r>
              <a:rPr lang="ko-KR" altLang="en-US" sz="2300"/>
              <a:t>조금 </a:t>
            </a:r>
            <a:r>
              <a:rPr lang="ko-KR" altLang="en-US" sz="2300" smtClean="0"/>
              <a:t>기뻤다</a:t>
            </a:r>
            <a:endParaRPr lang="ko-KR" altLang="en-US" sz="2300"/>
          </a:p>
        </p:txBody>
      </p:sp>
      <p:sp>
        <p:nvSpPr>
          <p:cNvPr id="15" name="TextBox 14"/>
          <p:cNvSpPr txBox="1"/>
          <p:nvPr/>
        </p:nvSpPr>
        <p:spPr>
          <a:xfrm>
            <a:off x="8532440" y="63813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186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23575" y="7285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981846" y="1283995"/>
            <a:ext cx="2805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 </a:t>
            </a:r>
            <a:r>
              <a:rPr kumimoji="0" lang="ko-KR" altLang="en-US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</a:t>
            </a:r>
            <a:endParaRPr kumimoji="0" lang="ko-KR" altLang="en-US" sz="20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32440" y="63813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3" y="561662"/>
            <a:ext cx="8829800" cy="5806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AS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혹은 수미상관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시소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VS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그네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자산형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VS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현금흐름성</a:t>
            </a:r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                 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++)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학기 당부 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마음을 움직이는 글쓰기 </a:t>
            </a:r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endParaRPr kumimoji="0" lang="en-US" altLang="ko-KR" sz="2000" b="0" i="0" u="none" strike="noStrike" kern="1200" cap="none" spc="0" normalizeH="0" baseline="0" noProof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2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* 3</a:t>
            </a:r>
            <a:r>
              <a:rPr kumimoji="0" lang="ko-KR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주차 학습 내용 복습하기 </a:t>
            </a:r>
            <a:endParaRPr kumimoji="0" lang="en-US" altLang="ko-KR" sz="2400" b="0" i="0" u="none" strike="noStrike" kern="1200" cap="none" spc="0" normalizeH="0" baseline="0" noProof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나만의 관점 모색하기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:  </a:t>
            </a:r>
            <a:r>
              <a:rPr lang="en-US" altLang="ko-KR" sz="2400" spc="-150">
                <a:solidFill>
                  <a:srgbClr val="7030A0"/>
                </a:solidFill>
                <a:latin typeface="+mj-ea"/>
              </a:rPr>
              <a:t>#</a:t>
            </a:r>
            <a:r>
              <a:rPr lang="ko-KR" altLang="en-US" sz="2400" spc="-150">
                <a:solidFill>
                  <a:srgbClr val="7030A0"/>
                </a:solidFill>
                <a:latin typeface="+mj-ea"/>
              </a:rPr>
              <a:t>자기탐색적 글쓰기  </a:t>
            </a:r>
            <a:r>
              <a:rPr lang="en-US" altLang="ko-KR" sz="2400" spc="-150">
                <a:solidFill>
                  <a:srgbClr val="7030A0"/>
                </a:solidFill>
                <a:latin typeface="+mj-ea"/>
              </a:rPr>
              <a:t>#</a:t>
            </a:r>
            <a:r>
              <a:rPr lang="ko-KR" altLang="en-US" sz="2400" spc="-150">
                <a:solidFill>
                  <a:srgbClr val="7030A0"/>
                </a:solidFill>
                <a:latin typeface="+mj-ea"/>
              </a:rPr>
              <a:t>행복   </a:t>
            </a:r>
            <a:endParaRPr lang="en-US" altLang="ko-KR" sz="2400" spc="-150">
              <a:solidFill>
                <a:srgbClr val="7030A0"/>
              </a:solidFill>
              <a:latin typeface="+mj-ea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/>
              <a:t>내 행복의 기준 찾기 위한 문학적 발상들</a:t>
            </a:r>
            <a:endParaRPr lang="en-US" altLang="ko-KR" sz="2400"/>
          </a:p>
          <a:p>
            <a:pPr algn="just" fontAlgn="base" latinLnBrk="0"/>
            <a:r>
              <a:rPr lang="en-US" altLang="ko-KR" sz="2400"/>
              <a:t>[1] 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Seesaw vs Swing             </a:t>
            </a:r>
          </a:p>
          <a:p>
            <a:pPr algn="just" fontAlgn="base" latinLnBrk="0"/>
            <a:r>
              <a:rPr lang="en-US" altLang="ko-KR" sz="2400" b="1">
                <a:solidFill>
                  <a:srgbClr val="00B050"/>
                </a:solidFill>
              </a:rPr>
              <a:t>Q. </a:t>
            </a:r>
            <a:r>
              <a:rPr lang="ko-KR" altLang="en-US" sz="2400" b="1">
                <a:solidFill>
                  <a:srgbClr val="00B050"/>
                </a:solidFill>
              </a:rPr>
              <a:t>어린</a:t>
            </a:r>
            <a:r>
              <a:rPr lang="en-US" altLang="ko-KR" sz="2400" b="1">
                <a:solidFill>
                  <a:srgbClr val="00B050"/>
                </a:solidFill>
              </a:rPr>
              <a:t> </a:t>
            </a:r>
            <a:r>
              <a:rPr lang="ko-KR" altLang="en-US" sz="2400" b="1">
                <a:solidFill>
                  <a:srgbClr val="00B050"/>
                </a:solidFill>
              </a:rPr>
              <a:t>시절에 내가 좋아하던 놀이기구는</a:t>
            </a:r>
            <a:r>
              <a:rPr lang="en-US" altLang="ko-KR" sz="2400" b="1">
                <a:solidFill>
                  <a:srgbClr val="00B050"/>
                </a:solidFill>
              </a:rPr>
              <a:t>? </a:t>
            </a:r>
            <a:endParaRPr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just" fontAlgn="base" latinLnBrk="0"/>
            <a:endParaRPr lang="ko-KR" altLang="en-US" sz="2000">
              <a:solidFill>
                <a:srgbClr val="7030A0"/>
              </a:solidFill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시소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(Seesaw)</a:t>
            </a: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적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 </a:t>
            </a: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균형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조화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평균과 조정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안정적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보수적</a:t>
            </a:r>
            <a:endParaRPr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그네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(Swing)</a:t>
            </a: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적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 </a:t>
            </a: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상승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~</a:t>
            </a: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하강 반복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그때 그때 낙차를 즐김</a:t>
            </a:r>
            <a:r>
              <a:rPr lang="en-US" altLang="ko-KR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–</a:t>
            </a:r>
            <a:r>
              <a:rPr lang="ko-KR" altLang="en-US" sz="24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변화무쌍</a:t>
            </a:r>
            <a:endParaRPr lang="en-US" altLang="ko-KR" sz="24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just" fontAlgn="base" latinLnBrk="0"/>
            <a:endParaRPr lang="en-US" altLang="ko-KR" sz="2000">
              <a:solidFill>
                <a:srgbClr val="00B050"/>
              </a:solidFill>
              <a:latin typeface="+mn-ea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253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752" y="512672"/>
            <a:ext cx="903649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[</a:t>
            </a:r>
            <a:r>
              <a:rPr lang="en-US" altLang="ko-KR" sz="2400" dirty="0" smtClean="0"/>
              <a:t>3</a:t>
            </a:r>
            <a:r>
              <a:rPr lang="en-US" altLang="ko-KR" sz="2400" dirty="0"/>
              <a:t>] 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밥을 먹는 동안 나는 행복도 돈과 같은 게 아닐까 하는 생각을 했어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행복에도 ‘</a:t>
            </a:r>
            <a:r>
              <a:rPr lang="ko-KR" altLang="en-US" sz="2200" dirty="0" err="1">
                <a:latin typeface="바탕" pitchFamily="18" charset="-127"/>
                <a:ea typeface="바탕" pitchFamily="18" charset="-127"/>
              </a:rPr>
              <a:t>자산성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2200" dirty="0" err="1">
                <a:latin typeface="바탕" pitchFamily="18" charset="-127"/>
                <a:ea typeface="바탕" pitchFamily="18" charset="-127"/>
              </a:rPr>
              <a:t>행복’과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 ‘</a:t>
            </a:r>
            <a:r>
              <a:rPr lang="ko-KR" altLang="en-US" sz="2200" dirty="0" err="1">
                <a:latin typeface="바탕" pitchFamily="18" charset="-127"/>
                <a:ea typeface="바탕" pitchFamily="18" charset="-127"/>
              </a:rPr>
              <a:t>현금흐름성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2200" dirty="0" err="1">
                <a:latin typeface="바탕" pitchFamily="18" charset="-127"/>
                <a:ea typeface="바탕" pitchFamily="18" charset="-127"/>
              </a:rPr>
              <a:t>행복’이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 있는 거야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r>
              <a:rPr lang="ko-KR" altLang="en-US" sz="2200" dirty="0">
                <a:solidFill>
                  <a:srgbClr val="00B050"/>
                </a:solidFill>
                <a:latin typeface="바탕" pitchFamily="18" charset="-127"/>
                <a:ea typeface="바탕" pitchFamily="18" charset="-127"/>
              </a:rPr>
              <a:t>어떤 행복은 </a:t>
            </a:r>
            <a:r>
              <a:rPr lang="ko-KR" altLang="en-US" sz="2200" b="1" dirty="0">
                <a:solidFill>
                  <a:srgbClr val="00B050"/>
                </a:solidFill>
                <a:latin typeface="바탕" pitchFamily="18" charset="-127"/>
                <a:ea typeface="바탕" pitchFamily="18" charset="-127"/>
              </a:rPr>
              <a:t>뭔가를 성취하는 데서 오는 거야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그러면 그걸 성취했다는 기억이 계속 남아서 사람을 오랫동안 조금 행복하게 만들어 줘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그게 </a:t>
            </a:r>
            <a:r>
              <a:rPr lang="ko-KR" altLang="en-US" sz="2200" dirty="0" err="1">
                <a:latin typeface="바탕" pitchFamily="18" charset="-127"/>
                <a:ea typeface="바탕" pitchFamily="18" charset="-127"/>
              </a:rPr>
              <a:t>자산성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2200" dirty="0" err="1">
                <a:latin typeface="바탕" pitchFamily="18" charset="-127"/>
                <a:ea typeface="바탕" pitchFamily="18" charset="-127"/>
              </a:rPr>
              <a:t>행복이야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어떤 사람은 그런 행복 자산의 이자가 되게 높아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r>
              <a:rPr lang="ko-KR" altLang="en-US" sz="2200" dirty="0" err="1">
                <a:latin typeface="바탕" pitchFamily="18" charset="-127"/>
                <a:ea typeface="바탕" pitchFamily="18" charset="-127"/>
              </a:rPr>
              <a:t>지명이가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 그런 애야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‘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내가 난관을 뚫고 기자가 되었다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.’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는 기억에서 매일 행복감이 조금씩 흘러나와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그래서 늦게까지 일하고 몸이 녹초가 되어도 남들보다 잘 버틸 수 있는 거야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</a:t>
            </a:r>
          </a:p>
          <a:p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어떤 사람은 </a:t>
            </a:r>
            <a:r>
              <a:rPr lang="ko-KR" altLang="en-US" sz="2200" dirty="0" err="1">
                <a:latin typeface="바탕" pitchFamily="18" charset="-127"/>
                <a:ea typeface="바탕" pitchFamily="18" charset="-127"/>
              </a:rPr>
              <a:t>정반대지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이런 사람들은 행복의 금리가 낮아서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행복 자산에서 이자가 거의 발생하지 않아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이런 사람은 </a:t>
            </a:r>
            <a:r>
              <a:rPr lang="ko-KR" altLang="en-US" sz="2200" dirty="0" err="1">
                <a:latin typeface="바탕" pitchFamily="18" charset="-127"/>
                <a:ea typeface="바탕" pitchFamily="18" charset="-127"/>
              </a:rPr>
              <a:t>현금흐름성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 행복을 많이 창출해야 돼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r>
              <a:rPr lang="ko-KR" altLang="en-US" sz="2200" dirty="0">
                <a:latin typeface="바탕" pitchFamily="18" charset="-127"/>
                <a:ea typeface="바탕" pitchFamily="18" charset="-127"/>
              </a:rPr>
              <a:t>그게 </a:t>
            </a:r>
            <a:r>
              <a:rPr lang="ko-KR" altLang="en-US" sz="2200" dirty="0" err="1">
                <a:latin typeface="바탕" pitchFamily="18" charset="-127"/>
                <a:ea typeface="바탕" pitchFamily="18" charset="-127"/>
              </a:rPr>
              <a:t>엘리야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r>
              <a:rPr lang="ko-KR" altLang="en-US" sz="2200" b="1" dirty="0">
                <a:solidFill>
                  <a:srgbClr val="00B050"/>
                </a:solidFill>
                <a:latin typeface="바탕" pitchFamily="18" charset="-127"/>
                <a:ea typeface="바탕" pitchFamily="18" charset="-127"/>
              </a:rPr>
              <a:t>걔는 정말 순간순간을 살았지</a:t>
            </a:r>
            <a:r>
              <a:rPr lang="en-US" altLang="ko-KR" sz="2200" dirty="0">
                <a:latin typeface="바탕" pitchFamily="18" charset="-127"/>
                <a:ea typeface="바탕" pitchFamily="18" charset="-127"/>
              </a:rPr>
              <a:t>. </a:t>
            </a:r>
            <a:endParaRPr lang="en-US" altLang="ko-KR" sz="2200" dirty="0" smtClean="0"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2400" dirty="0" smtClean="0"/>
              <a:t>-</a:t>
            </a:r>
            <a:r>
              <a:rPr lang="ko-KR" altLang="en-US" sz="2400" dirty="0" err="1"/>
              <a:t>장강명</a:t>
            </a:r>
            <a:r>
              <a:rPr lang="en-US" altLang="ko-KR" sz="2400" dirty="0"/>
              <a:t>, 『</a:t>
            </a:r>
            <a:r>
              <a:rPr lang="ko-KR" altLang="en-US" sz="2400" dirty="0"/>
              <a:t>한국이 싫어서</a:t>
            </a:r>
            <a:r>
              <a:rPr lang="en-US" altLang="ko-KR" sz="2400" dirty="0"/>
              <a:t>』, </a:t>
            </a:r>
            <a:r>
              <a:rPr lang="ko-KR" altLang="en-US" sz="2400" dirty="0" err="1"/>
              <a:t>민음사</a:t>
            </a:r>
            <a:r>
              <a:rPr lang="en-US" altLang="ko-KR" sz="2400" dirty="0"/>
              <a:t>, 2015 .pp.186~7. </a:t>
            </a:r>
          </a:p>
          <a:p>
            <a:r>
              <a:rPr lang="en-US" altLang="ko-KR" sz="2400" dirty="0" smtClean="0"/>
              <a:t> </a:t>
            </a:r>
            <a:r>
              <a:rPr lang="ko-KR" altLang="en-US" sz="2400" dirty="0" smtClean="0"/>
              <a:t>편집</a:t>
            </a:r>
            <a:r>
              <a:rPr lang="en-US" altLang="ko-KR" sz="2400" dirty="0"/>
              <a:t>: </a:t>
            </a:r>
            <a:r>
              <a:rPr lang="ko-KR" altLang="en-US" sz="2400" dirty="0" smtClean="0"/>
              <a:t>인용자</a:t>
            </a:r>
            <a:r>
              <a:rPr lang="en-US" altLang="ko-KR" sz="2400" dirty="0" smtClean="0"/>
              <a:t>          </a:t>
            </a:r>
            <a:endParaRPr lang="en-US" altLang="ko-KR" sz="2400" b="1" dirty="0">
              <a:solidFill>
                <a:srgbClr val="7030A0"/>
              </a:solidFill>
            </a:endParaRPr>
          </a:p>
          <a:p>
            <a:r>
              <a:rPr lang="en-US" altLang="ko-KR" sz="2400" b="1" dirty="0">
                <a:solidFill>
                  <a:srgbClr val="7030A0"/>
                </a:solidFill>
              </a:rPr>
              <a:t>Q</a:t>
            </a:r>
            <a:r>
              <a:rPr lang="en-US" altLang="ko-KR" sz="2800" b="1">
                <a:solidFill>
                  <a:srgbClr val="7030A0"/>
                </a:solidFill>
              </a:rPr>
              <a:t>. </a:t>
            </a:r>
            <a:r>
              <a:rPr lang="ko-KR" altLang="en-US" sz="2800" b="1" smtClean="0">
                <a:solidFill>
                  <a:srgbClr val="7030A0"/>
                </a:solidFill>
              </a:rPr>
              <a:t>여러분은 현재 </a:t>
            </a:r>
            <a:r>
              <a:rPr lang="ko-KR" altLang="en-US" sz="2800" b="1" dirty="0">
                <a:solidFill>
                  <a:srgbClr val="7030A0"/>
                </a:solidFill>
              </a:rPr>
              <a:t>어떤 유형의 행복이 더 중요한가요</a:t>
            </a:r>
            <a:r>
              <a:rPr lang="en-US" altLang="ko-KR" sz="2800" b="1" dirty="0">
                <a:solidFill>
                  <a:srgbClr val="7030A0"/>
                </a:solidFill>
              </a:rPr>
              <a:t>? </a:t>
            </a:r>
          </a:p>
          <a:p>
            <a:r>
              <a:rPr lang="en-US" altLang="ko-KR" sz="2800" b="1" dirty="0">
                <a:solidFill>
                  <a:srgbClr val="7030A0"/>
                </a:solidFill>
              </a:rPr>
              <a:t>‘</a:t>
            </a:r>
            <a:r>
              <a:rPr lang="ko-KR" altLang="en-US" sz="2800" b="1" dirty="0" err="1">
                <a:solidFill>
                  <a:srgbClr val="7030A0"/>
                </a:solidFill>
              </a:rPr>
              <a:t>자산성</a:t>
            </a:r>
            <a:r>
              <a:rPr lang="ko-KR" altLang="en-US" sz="2800" b="1" dirty="0">
                <a:solidFill>
                  <a:srgbClr val="7030A0"/>
                </a:solidFill>
              </a:rPr>
              <a:t>’ </a:t>
            </a:r>
            <a:r>
              <a:rPr lang="en-US" altLang="ko-KR" sz="2800" b="1" dirty="0">
                <a:solidFill>
                  <a:srgbClr val="7030A0"/>
                </a:solidFill>
              </a:rPr>
              <a:t>VS '</a:t>
            </a:r>
            <a:r>
              <a:rPr lang="ko-KR" altLang="en-US" sz="2800" b="1" dirty="0" err="1">
                <a:solidFill>
                  <a:srgbClr val="7030A0"/>
                </a:solidFill>
              </a:rPr>
              <a:t>현금흐름성</a:t>
            </a:r>
            <a:endParaRPr lang="ko-KR" altLang="en-US" sz="2800" spc="-150" dirty="0">
              <a:solidFill>
                <a:schemeClr val="tx1">
                  <a:lumMod val="85000"/>
                  <a:lumOff val="15000"/>
                </a:scheme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532440" y="63813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733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23575" y="7285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981846" y="1283995"/>
            <a:ext cx="2805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 </a:t>
            </a:r>
            <a:r>
              <a:rPr kumimoji="0" lang="ko-KR" altLang="en-US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</a:t>
            </a:r>
            <a:endParaRPr kumimoji="0" lang="ko-KR" altLang="en-US" sz="20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32440" y="63813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3" y="561662"/>
            <a:ext cx="88298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800" smtClean="0">
                <a:latin typeface="+mn-ea"/>
              </a:rPr>
              <a:t>행복의 기준</a:t>
            </a:r>
            <a:r>
              <a:rPr lang="en-US" altLang="ko-KR" sz="2800" smtClean="0">
                <a:latin typeface="+mn-ea"/>
              </a:rPr>
              <a:t>: </a:t>
            </a:r>
            <a:r>
              <a:rPr lang="ko-KR" altLang="en-US" sz="2800" smtClean="0">
                <a:latin typeface="+mn-ea"/>
              </a:rPr>
              <a:t>시간 </a:t>
            </a:r>
            <a:r>
              <a:rPr lang="en-US" altLang="ko-KR" sz="2800" smtClean="0">
                <a:latin typeface="+mn-ea"/>
              </a:rPr>
              <a:t>VS </a:t>
            </a:r>
            <a:r>
              <a:rPr lang="ko-KR" altLang="en-US" sz="2800" smtClean="0">
                <a:latin typeface="+mn-ea"/>
              </a:rPr>
              <a:t>돈</a:t>
            </a:r>
            <a:r>
              <a:rPr lang="en-US" altLang="ko-KR" sz="2800" smtClean="0">
                <a:latin typeface="+mn-ea"/>
              </a:rPr>
              <a:t> 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2800" smtClean="0">
                <a:latin typeface="+mn-ea"/>
              </a:rPr>
              <a:t>시간</a:t>
            </a:r>
            <a:r>
              <a:rPr lang="en-US" altLang="ko-KR" sz="2800" smtClean="0">
                <a:latin typeface="+mn-ea"/>
              </a:rPr>
              <a:t>&gt; </a:t>
            </a:r>
            <a:r>
              <a:rPr lang="ko-KR" altLang="en-US" sz="2800" smtClean="0">
                <a:latin typeface="+mn-ea"/>
              </a:rPr>
              <a:t>돈</a:t>
            </a:r>
            <a:r>
              <a:rPr lang="en-US" altLang="ko-KR" sz="2800" smtClean="0">
                <a:latin typeface="+mn-ea"/>
              </a:rPr>
              <a:t>; </a:t>
            </a:r>
            <a:r>
              <a:rPr lang="ko-KR" altLang="en-US" sz="2800" smtClean="0">
                <a:latin typeface="+mn-ea"/>
              </a:rPr>
              <a:t>행복감 느낄 확률 높아짐 </a:t>
            </a:r>
            <a:endParaRPr lang="en-US" altLang="ko-KR" sz="280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  <a:defRPr/>
            </a:pPr>
            <a:r>
              <a:rPr lang="ko-KR" altLang="en-US" sz="2400"/>
              <a:t>소비의 경우에도 </a:t>
            </a:r>
            <a:r>
              <a:rPr lang="ko-KR" altLang="en-US" sz="2400" smtClean="0"/>
              <a:t>시간 절약</a:t>
            </a:r>
            <a:r>
              <a:rPr lang="en-US" altLang="ko-KR" sz="2400" smtClean="0"/>
              <a:t>&gt; </a:t>
            </a:r>
            <a:r>
              <a:rPr lang="ko-KR" altLang="en-US" sz="2400" smtClean="0"/>
              <a:t>고가 소유</a:t>
            </a:r>
            <a:r>
              <a:rPr lang="en-US" altLang="ko-KR" sz="2400" smtClean="0"/>
              <a:t>: </a:t>
            </a:r>
            <a:r>
              <a:rPr lang="ko-KR" altLang="en-US" sz="2400" smtClean="0"/>
              <a:t> 여유</a:t>
            </a:r>
            <a:r>
              <a:rPr lang="en-US" altLang="ko-KR" sz="2400" smtClean="0"/>
              <a:t>-&gt; </a:t>
            </a:r>
            <a:r>
              <a:rPr lang="ko-KR" altLang="en-US" sz="2400" smtClean="0"/>
              <a:t>만족감 </a:t>
            </a:r>
            <a:endParaRPr lang="en-US" altLang="ko-KR" sz="2400" smtClean="0"/>
          </a:p>
          <a:p>
            <a:pPr>
              <a:lnSpc>
                <a:spcPct val="150000"/>
              </a:lnSpc>
              <a:defRPr/>
            </a:pPr>
            <a:r>
              <a:rPr lang="en-US" altLang="ko-KR" sz="2400" smtClean="0">
                <a:solidFill>
                  <a:srgbClr val="3399FF"/>
                </a:solidFill>
              </a:rPr>
              <a:t>“</a:t>
            </a:r>
            <a:r>
              <a:rPr lang="ko-KR" altLang="en-US" sz="2400">
                <a:solidFill>
                  <a:srgbClr val="3399FF"/>
                </a:solidFill>
              </a:rPr>
              <a:t>행복하지 않은 사람은 소유를 늘려 타인을 위협하지만</a:t>
            </a:r>
            <a:r>
              <a:rPr lang="en-US" altLang="ko-KR" sz="2400">
                <a:solidFill>
                  <a:srgbClr val="3399FF"/>
                </a:solidFill>
              </a:rPr>
              <a:t>, </a:t>
            </a:r>
            <a:r>
              <a:rPr lang="ko-KR" altLang="en-US" sz="2400">
                <a:solidFill>
                  <a:srgbClr val="3399FF"/>
                </a:solidFill>
              </a:rPr>
              <a:t>행복한 사람은 </a:t>
            </a:r>
            <a:r>
              <a:rPr lang="en-US" altLang="ko-KR" sz="2400">
                <a:solidFill>
                  <a:srgbClr val="3399FF"/>
                </a:solidFill>
              </a:rPr>
              <a:t>(</a:t>
            </a:r>
            <a:r>
              <a:rPr lang="ko-KR" altLang="en-US" sz="2400">
                <a:solidFill>
                  <a:srgbClr val="3399FF"/>
                </a:solidFill>
              </a:rPr>
              <a:t>시간 확보를 통해</a:t>
            </a:r>
            <a:r>
              <a:rPr lang="en-US" altLang="ko-KR" sz="2400">
                <a:solidFill>
                  <a:srgbClr val="3399FF"/>
                </a:solidFill>
              </a:rPr>
              <a:t>) </a:t>
            </a:r>
            <a:r>
              <a:rPr lang="ko-KR" altLang="en-US" sz="2400">
                <a:solidFill>
                  <a:srgbClr val="3399FF"/>
                </a:solidFill>
              </a:rPr>
              <a:t>경험을 늘려 관계를 강화하며 자기의 정체성을 구축</a:t>
            </a:r>
            <a:r>
              <a:rPr lang="ko-KR" altLang="en-US" sz="2400" smtClean="0">
                <a:solidFill>
                  <a:srgbClr val="3399FF"/>
                </a:solidFill>
              </a:rPr>
              <a:t>”</a:t>
            </a:r>
            <a:endParaRPr lang="en-US" altLang="ko-KR" sz="2400" smtClean="0">
              <a:solidFill>
                <a:srgbClr val="3399FF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2400" smtClean="0"/>
              <a:t>소득 </a:t>
            </a:r>
            <a:r>
              <a:rPr lang="ko-KR" altLang="en-US" sz="2400"/>
              <a:t>수준과 </a:t>
            </a:r>
            <a:r>
              <a:rPr lang="ko-KR" altLang="en-US" sz="2400" smtClean="0"/>
              <a:t>무관</a:t>
            </a:r>
            <a:r>
              <a:rPr lang="en-US" altLang="ko-KR" sz="2400" smtClean="0"/>
              <a:t>: [</a:t>
            </a:r>
            <a:r>
              <a:rPr lang="ko-KR" altLang="en-US" sz="2400" smtClean="0"/>
              <a:t>예</a:t>
            </a:r>
            <a:r>
              <a:rPr lang="en-US" altLang="ko-KR" sz="2400" smtClean="0"/>
              <a:t>] </a:t>
            </a:r>
            <a:r>
              <a:rPr lang="ko-KR" altLang="en-US" sz="2400" smtClean="0"/>
              <a:t>고소득층뿐만 </a:t>
            </a:r>
            <a:r>
              <a:rPr lang="ko-KR" altLang="en-US" sz="2400"/>
              <a:t>아니라 중산층이나 저소득층 </a:t>
            </a:r>
            <a:r>
              <a:rPr lang="ko-KR" altLang="en-US" sz="2400" smtClean="0"/>
              <a:t>등에서도</a:t>
            </a:r>
            <a:r>
              <a:rPr lang="en-US" altLang="ko-KR" sz="2400"/>
              <a:t> </a:t>
            </a:r>
            <a:r>
              <a:rPr lang="ko-KR" altLang="en-US" sz="2400" smtClean="0"/>
              <a:t>재택근무</a:t>
            </a:r>
            <a:r>
              <a:rPr lang="en-US" altLang="ko-KR" sz="2400" smtClean="0"/>
              <a:t>, </a:t>
            </a:r>
            <a:r>
              <a:rPr lang="ko-KR" altLang="en-US" sz="2400" smtClean="0"/>
              <a:t>배달 서비스로 시간 절약하면  </a:t>
            </a:r>
            <a:endParaRPr lang="en-US" altLang="ko-KR" sz="2400" smtClean="0"/>
          </a:p>
          <a:p>
            <a:pPr>
              <a:lnSpc>
                <a:spcPct val="150000"/>
              </a:lnSpc>
              <a:defRPr/>
            </a:pPr>
            <a:r>
              <a:rPr lang="ko-KR" altLang="en-US" sz="2400" smtClean="0"/>
              <a:t>그 </a:t>
            </a:r>
            <a:r>
              <a:rPr lang="ko-KR" altLang="en-US" sz="2400"/>
              <a:t>시간에 친구와의 교류</a:t>
            </a:r>
            <a:r>
              <a:rPr lang="en-US" altLang="ko-KR" sz="2400"/>
              <a:t>, </a:t>
            </a:r>
            <a:r>
              <a:rPr lang="ko-KR" altLang="en-US" sz="2400"/>
              <a:t>독서</a:t>
            </a:r>
            <a:r>
              <a:rPr lang="en-US" altLang="ko-KR" sz="2400"/>
              <a:t>, </a:t>
            </a:r>
            <a:r>
              <a:rPr lang="ko-KR" altLang="en-US" sz="2400"/>
              <a:t>운동 등 행복감을 증진하는 활동에 시간을 좀 더 투자하게 된다</a:t>
            </a:r>
            <a:r>
              <a:rPr lang="en-US" altLang="ko-KR" sz="2400"/>
              <a:t>. 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83983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23575" y="7285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981846" y="1283995"/>
            <a:ext cx="2805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 </a:t>
            </a:r>
            <a:r>
              <a:rPr kumimoji="0" lang="ko-KR" altLang="en-US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</a:t>
            </a:r>
            <a:endParaRPr kumimoji="0" lang="ko-KR" altLang="en-US" sz="20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32440" y="63813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561662"/>
            <a:ext cx="9001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H</a:t>
            </a:r>
            <a:r>
              <a:rPr lang="ko-KR" altLang="en-US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관 룸메이트들과 살면서 내가 제일 많이 했던 말은 </a:t>
            </a: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ko-KR" altLang="en-US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잘자</a:t>
            </a: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’</a:t>
            </a:r>
            <a:r>
              <a:rPr lang="ko-KR" altLang="en-US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였다</a:t>
            </a: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학교로 출근했으나 아르바이트 직장을 거쳐 퇴근해 돌아오면 언제나 잘 시간이었기 때문이다</a:t>
            </a: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대충 씻고 늦게까지 과제를 했다</a:t>
            </a: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몇 시간이나 잘 수 있을지 계산하는 날들을 반복하며 노동시간만큼 잤으면 좋겠다고 생각했다</a:t>
            </a: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수면이 극도로 부족했다</a:t>
            </a: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</a:t>
            </a:r>
            <a:r>
              <a:rPr lang="ko-KR" altLang="en-US" sz="2400" b="1" smtClean="0">
                <a:solidFill>
                  <a:srgbClr val="3399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사실 진짜 부족한 것은 시간이라는 자원이었다</a:t>
            </a:r>
            <a:r>
              <a:rPr lang="en-US" altLang="ko-KR" sz="2400" b="1" smtClean="0">
                <a:solidFill>
                  <a:srgbClr val="3399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다음 날의 노동력을 재생산하기 위해 질 좋은 식사를 할 시간</a:t>
            </a: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질 좋은 수면을 할 시간</a:t>
            </a: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질 좋은 대인관계를 통해 정서적 안정을 되찾을 시간이 없었고</a:t>
            </a: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미래를 계획할 시간도 없었다</a:t>
            </a:r>
            <a:r>
              <a:rPr lang="en-US" altLang="ko-KR" sz="240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.     </a:t>
            </a:r>
            <a:r>
              <a:rPr lang="en-US" altLang="ko-KR" sz="2400" smtClean="0">
                <a:latin typeface="+mj-ea"/>
                <a:ea typeface="+mj-ea"/>
              </a:rPr>
              <a:t>#</a:t>
            </a:r>
            <a:r>
              <a:rPr lang="ko-KR" altLang="en-US" sz="2400" smtClean="0">
                <a:latin typeface="+mj-ea"/>
                <a:ea typeface="+mj-ea"/>
              </a:rPr>
              <a:t>불쌍 아닌 살아간다</a:t>
            </a:r>
            <a:endParaRPr lang="en-US" altLang="ko-KR" sz="240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400" smtClean="0">
                <a:latin typeface="+mj-lt"/>
                <a:ea typeface="HY신명조" panose="02030600000101010101" pitchFamily="18" charset="-127"/>
              </a:rPr>
              <a:t>                           -</a:t>
            </a:r>
            <a:r>
              <a:rPr lang="ko-KR" altLang="en-US" sz="2400" smtClean="0">
                <a:latin typeface="+mj-ea"/>
                <a:ea typeface="+mj-ea"/>
              </a:rPr>
              <a:t>안온</a:t>
            </a:r>
            <a:r>
              <a:rPr lang="en-US" altLang="ko-KR" sz="2400" smtClean="0">
                <a:latin typeface="+mj-ea"/>
                <a:ea typeface="+mj-ea"/>
              </a:rPr>
              <a:t>, </a:t>
            </a:r>
            <a:r>
              <a:rPr lang="en-US" altLang="ko-KR" sz="2400" smtClean="0">
                <a:latin typeface="+mj-lt"/>
              </a:rPr>
              <a:t>『</a:t>
            </a:r>
            <a:r>
              <a:rPr lang="ko-KR" altLang="en-US" sz="2400" smtClean="0">
                <a:latin typeface="+mj-lt"/>
              </a:rPr>
              <a:t>일인칭 가난</a:t>
            </a:r>
            <a:r>
              <a:rPr lang="en-US" altLang="ko-KR" sz="2400" smtClean="0">
                <a:latin typeface="+mj-lt"/>
              </a:rPr>
              <a:t>』, </a:t>
            </a:r>
            <a:r>
              <a:rPr lang="ko-KR" altLang="en-US" sz="2400" smtClean="0">
                <a:latin typeface="+mj-lt"/>
              </a:rPr>
              <a:t>마티</a:t>
            </a:r>
            <a:r>
              <a:rPr lang="en-US" altLang="ko-KR" sz="2400" smtClean="0">
                <a:latin typeface="+mj-lt"/>
              </a:rPr>
              <a:t>, 2023. p. 122.</a:t>
            </a:r>
            <a:r>
              <a:rPr lang="en-US" altLang="ko-KR" sz="2400" smtClean="0">
                <a:solidFill>
                  <a:srgbClr val="3399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487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23575" y="7285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981846" y="1283995"/>
            <a:ext cx="2805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 </a:t>
            </a:r>
            <a:r>
              <a:rPr kumimoji="0" lang="ko-KR" altLang="en-US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</a:t>
            </a:r>
            <a:endParaRPr kumimoji="0" lang="ko-KR" altLang="en-US" sz="20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32440" y="63813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3" y="561662"/>
            <a:ext cx="8829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altLang="ko-KR" smtClean="0"/>
              <a:t>* </a:t>
            </a:r>
            <a:r>
              <a:rPr lang="en-US" altLang="ko-KR" sz="2400" smtClean="0"/>
              <a:t>But, </a:t>
            </a:r>
            <a:r>
              <a:rPr lang="ko-KR" altLang="en-US" sz="2400" smtClean="0"/>
              <a:t>행복을 </a:t>
            </a:r>
            <a:r>
              <a:rPr lang="ko-KR" altLang="en-US" sz="2400"/>
              <a:t>시간과 경험의 풍부성에 비례한다고 </a:t>
            </a:r>
            <a:r>
              <a:rPr lang="ko-KR" altLang="en-US" sz="2400" smtClean="0"/>
              <a:t>단정 </a:t>
            </a:r>
            <a:r>
              <a:rPr lang="en-US" altLang="ko-KR" sz="2400" smtClean="0"/>
              <a:t>X</a:t>
            </a:r>
          </a:p>
          <a:p>
            <a:pPr fontAlgn="base">
              <a:lnSpc>
                <a:spcPct val="150000"/>
              </a:lnSpc>
            </a:pPr>
            <a:r>
              <a:rPr lang="en-US" altLang="ko-KR" sz="2400" smtClean="0"/>
              <a:t> : </a:t>
            </a:r>
            <a:r>
              <a:rPr lang="ko-KR" altLang="en-US" sz="2400" smtClean="0"/>
              <a:t>또 </a:t>
            </a:r>
            <a:r>
              <a:rPr lang="ko-KR" altLang="en-US" sz="2400"/>
              <a:t>다른 연구에 따르면 행복은 ‘경험 행복</a:t>
            </a:r>
            <a:r>
              <a:rPr lang="ko-KR" altLang="en-US" sz="2400" smtClean="0"/>
              <a:t>’ </a:t>
            </a:r>
            <a:r>
              <a:rPr lang="en-US" altLang="ko-KR" sz="2400" smtClean="0"/>
              <a:t>VS</a:t>
            </a:r>
            <a:r>
              <a:rPr lang="ko-KR" altLang="en-US" sz="2400" smtClean="0"/>
              <a:t> </a:t>
            </a:r>
            <a:r>
              <a:rPr lang="ko-KR" altLang="en-US" sz="2400"/>
              <a:t>‘기억 행복</a:t>
            </a:r>
            <a:r>
              <a:rPr lang="ko-KR" altLang="en-US" sz="2400" smtClean="0"/>
              <a:t>’</a:t>
            </a:r>
            <a:endParaRPr lang="en-US" altLang="ko-KR" sz="2400" smtClean="0"/>
          </a:p>
          <a:p>
            <a:pPr fontAlgn="base">
              <a:lnSpc>
                <a:spcPct val="150000"/>
              </a:lnSpc>
            </a:pPr>
            <a:endParaRPr lang="en-US" altLang="ko-KR" sz="2400" smtClean="0"/>
          </a:p>
          <a:p>
            <a:pPr fontAlgn="base">
              <a:lnSpc>
                <a:spcPct val="150000"/>
              </a:lnSpc>
            </a:pPr>
            <a:r>
              <a:rPr lang="ko-KR" altLang="en-US" sz="2400" smtClean="0"/>
              <a:t> </a:t>
            </a:r>
            <a:r>
              <a:rPr lang="en-US" altLang="ko-KR" sz="2400" smtClean="0"/>
              <a:t>-</a:t>
            </a:r>
            <a:r>
              <a:rPr lang="ko-KR" altLang="en-US" sz="2400" smtClean="0"/>
              <a:t>경험 행복은 순간순간 </a:t>
            </a:r>
            <a:r>
              <a:rPr lang="ko-KR" altLang="en-US" sz="2400"/>
              <a:t>느끼는 감정행복과 연결되며 </a:t>
            </a:r>
            <a:r>
              <a:rPr lang="ko-KR" altLang="en-US" sz="2400" u="sng"/>
              <a:t>애착이 있는 이들과의 관계</a:t>
            </a:r>
            <a:r>
              <a:rPr lang="ko-KR" altLang="en-US" sz="2400"/>
              <a:t>가 중요하게 작용한다</a:t>
            </a:r>
            <a:r>
              <a:rPr lang="en-US" altLang="ko-KR" sz="2400"/>
              <a:t>. </a:t>
            </a:r>
            <a:r>
              <a:rPr lang="en-US" altLang="ko-KR" sz="2400" smtClean="0"/>
              <a:t>(= </a:t>
            </a:r>
            <a:r>
              <a:rPr lang="ko-KR" altLang="en-US" sz="2400" smtClean="0"/>
              <a:t>현금흐름성</a:t>
            </a:r>
            <a:r>
              <a:rPr lang="en-US" altLang="ko-KR" sz="2400" smtClean="0"/>
              <a:t>)</a:t>
            </a:r>
          </a:p>
          <a:p>
            <a:pPr fontAlgn="base">
              <a:lnSpc>
                <a:spcPct val="150000"/>
              </a:lnSpc>
            </a:pPr>
            <a:r>
              <a:rPr lang="en-US" altLang="ko-KR" sz="2400" smtClean="0"/>
              <a:t>-</a:t>
            </a:r>
            <a:r>
              <a:rPr lang="ko-KR" altLang="en-US" sz="2400" smtClean="0"/>
              <a:t>반면 기억 행복은 지나온 </a:t>
            </a:r>
            <a:r>
              <a:rPr lang="ko-KR" altLang="en-US" sz="2400"/>
              <a:t>삶의 의미를 평가하는 인생 만족도를 가리킨다</a:t>
            </a:r>
            <a:r>
              <a:rPr lang="en-US" altLang="ko-KR" sz="2400" smtClean="0"/>
              <a:t>.(=</a:t>
            </a:r>
            <a:r>
              <a:rPr lang="ko-KR" altLang="en-US" sz="2400" smtClean="0"/>
              <a:t>자산성</a:t>
            </a:r>
            <a:r>
              <a:rPr lang="en-US" altLang="ko-KR" sz="2400" smtClean="0"/>
              <a:t>) </a:t>
            </a:r>
          </a:p>
          <a:p>
            <a:pPr fontAlgn="base">
              <a:lnSpc>
                <a:spcPct val="150000"/>
              </a:lnSpc>
            </a:pPr>
            <a:r>
              <a:rPr lang="en-US" altLang="ko-KR" sz="2400" smtClean="0"/>
              <a:t>-</a:t>
            </a:r>
            <a:r>
              <a:rPr lang="ko-KR" altLang="en-US" sz="2400" smtClean="0"/>
              <a:t>일정 </a:t>
            </a:r>
            <a:r>
              <a:rPr lang="ko-KR" altLang="en-US" sz="2400"/>
              <a:t>수준부터는 소득이 늘어도 경험 </a:t>
            </a:r>
            <a:r>
              <a:rPr lang="ko-KR" altLang="en-US" sz="2400" smtClean="0"/>
              <a:t>행복 증대</a:t>
            </a:r>
            <a:r>
              <a:rPr lang="en-US" altLang="ko-KR" sz="2400" smtClean="0"/>
              <a:t>X</a:t>
            </a:r>
          </a:p>
          <a:p>
            <a:pPr fontAlgn="base">
              <a:lnSpc>
                <a:spcPct val="150000"/>
              </a:lnSpc>
            </a:pPr>
            <a:r>
              <a:rPr lang="ko-KR" altLang="en-US" sz="2400" smtClean="0"/>
              <a:t>기억 행복</a:t>
            </a:r>
            <a:r>
              <a:rPr lang="ko-KR" altLang="en-US" sz="2400"/>
              <a:t>은</a:t>
            </a:r>
            <a:r>
              <a:rPr lang="ko-KR" altLang="en-US" sz="2400" smtClean="0"/>
              <a:t> </a:t>
            </a:r>
            <a:r>
              <a:rPr lang="ko-KR" altLang="en-US" sz="2400"/>
              <a:t>소득의 증가와 </a:t>
            </a:r>
            <a:r>
              <a:rPr lang="ko-KR" altLang="en-US" sz="2400" smtClean="0"/>
              <a:t>비례</a:t>
            </a:r>
            <a:r>
              <a:rPr lang="en-US" altLang="ko-KR" sz="240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5562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23575" y="7285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981846" y="1283995"/>
            <a:ext cx="2805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 </a:t>
            </a:r>
            <a:r>
              <a:rPr kumimoji="0" lang="ko-KR" altLang="en-US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</a:t>
            </a:r>
            <a:endParaRPr kumimoji="0" lang="ko-KR" altLang="en-US" sz="20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32440" y="63813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3" y="561662"/>
            <a:ext cx="88298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400" smtClean="0">
                <a:solidFill>
                  <a:srgbClr val="3399FF"/>
                </a:solidFill>
              </a:rPr>
              <a:t>즉 일상 </a:t>
            </a:r>
            <a:r>
              <a:rPr lang="ko-KR" altLang="en-US" sz="2400">
                <a:solidFill>
                  <a:srgbClr val="3399FF"/>
                </a:solidFill>
              </a:rPr>
              <a:t>속</a:t>
            </a:r>
            <a:r>
              <a:rPr lang="ko-KR" altLang="en-US" sz="2400" smtClean="0">
                <a:solidFill>
                  <a:srgbClr val="3399FF"/>
                </a:solidFill>
              </a:rPr>
              <a:t> </a:t>
            </a:r>
            <a:r>
              <a:rPr lang="ko-KR" altLang="en-US" sz="2400">
                <a:solidFill>
                  <a:srgbClr val="3399FF"/>
                </a:solidFill>
              </a:rPr>
              <a:t>순간순간의 기쁨은 소득이 증대한다고 해서 큰 </a:t>
            </a:r>
            <a:r>
              <a:rPr lang="ko-KR" altLang="en-US" sz="2400" smtClean="0">
                <a:solidFill>
                  <a:srgbClr val="3399FF"/>
                </a:solidFill>
              </a:rPr>
              <a:t>영향</a:t>
            </a:r>
            <a:r>
              <a:rPr lang="en-US" altLang="ko-KR" sz="2400" smtClean="0">
                <a:solidFill>
                  <a:srgbClr val="3399FF"/>
                </a:solidFill>
              </a:rPr>
              <a:t>X, </a:t>
            </a:r>
            <a:r>
              <a:rPr lang="ko-KR" altLang="en-US" sz="2400">
                <a:solidFill>
                  <a:srgbClr val="3399FF"/>
                </a:solidFill>
              </a:rPr>
              <a:t>인생 전체의 만족도에서는 </a:t>
            </a:r>
            <a:r>
              <a:rPr lang="ko-KR" altLang="en-US" sz="2400" u="sng">
                <a:solidFill>
                  <a:srgbClr val="3399FF"/>
                </a:solidFill>
              </a:rPr>
              <a:t>사회적인 평가와 타인과의 비교의 기준이 되는 돈</a:t>
            </a:r>
            <a:r>
              <a:rPr lang="ko-KR" altLang="en-US" sz="2400">
                <a:solidFill>
                  <a:srgbClr val="3399FF"/>
                </a:solidFill>
              </a:rPr>
              <a:t>이 중요한 </a:t>
            </a:r>
            <a:r>
              <a:rPr lang="ko-KR" altLang="en-US" sz="2400" smtClean="0">
                <a:solidFill>
                  <a:srgbClr val="3399FF"/>
                </a:solidFill>
              </a:rPr>
              <a:t>역할</a:t>
            </a:r>
            <a:endParaRPr lang="ko-KR" altLang="en-US" sz="2400">
              <a:solidFill>
                <a:srgbClr val="3399FF"/>
              </a:solidFill>
            </a:endParaRPr>
          </a:p>
          <a:p>
            <a:pPr fontAlgn="base">
              <a:lnSpc>
                <a:spcPct val="150000"/>
              </a:lnSpc>
            </a:pPr>
            <a:r>
              <a:rPr lang="en-US" altLang="ko-KR" sz="2400" smtClean="0"/>
              <a:t>-</a:t>
            </a:r>
            <a:r>
              <a:rPr lang="ko-KR" altLang="en-US" sz="2400" smtClean="0"/>
              <a:t>경험 </a:t>
            </a:r>
            <a:r>
              <a:rPr lang="ko-KR" altLang="en-US" sz="2400"/>
              <a:t>행복과 기억 행복은 대체적으로 </a:t>
            </a:r>
            <a:r>
              <a:rPr lang="ko-KR" altLang="en-US" sz="2400" smtClean="0"/>
              <a:t>충돌</a:t>
            </a:r>
            <a:endParaRPr lang="en-US" altLang="ko-KR" sz="2400" smtClean="0"/>
          </a:p>
          <a:p>
            <a:pPr fontAlgn="base">
              <a:lnSpc>
                <a:spcPct val="150000"/>
              </a:lnSpc>
            </a:pPr>
            <a:r>
              <a:rPr lang="en-US" altLang="ko-KR" sz="2400" smtClean="0"/>
              <a:t>: </a:t>
            </a:r>
            <a:r>
              <a:rPr lang="ko-KR" altLang="en-US" sz="2400" smtClean="0"/>
              <a:t>두 </a:t>
            </a:r>
            <a:r>
              <a:rPr lang="ko-KR" altLang="en-US" sz="2400"/>
              <a:t>가지 형태의 행복을 균형 있게 추구하기는 현실적으로 어려우며 한 가지를 추구하려면 다른 한 가지는 상대적으로 희생해야 한다</a:t>
            </a:r>
            <a:r>
              <a:rPr lang="en-US" altLang="ko-KR" sz="2400"/>
              <a:t>. </a:t>
            </a:r>
            <a:endParaRPr lang="en-US" altLang="ko-KR" sz="2400" smtClean="0"/>
          </a:p>
          <a:p>
            <a:pPr fontAlgn="base">
              <a:lnSpc>
                <a:spcPct val="150000"/>
              </a:lnSpc>
            </a:pPr>
            <a:r>
              <a:rPr lang="ko-KR" altLang="en-US" sz="2400" smtClean="0"/>
              <a:t>  둘 </a:t>
            </a:r>
            <a:r>
              <a:rPr lang="ko-KR" altLang="en-US" sz="2400"/>
              <a:t>중 무엇이 더 중요하고 나은 가치라고 할 수 없으므로 선택은 </a:t>
            </a:r>
            <a:r>
              <a:rPr lang="ko-KR" altLang="en-US" sz="2400" smtClean="0"/>
              <a:t>개인의 문제 </a:t>
            </a:r>
            <a:endParaRPr lang="en-US" altLang="ko-KR" sz="2400" smtClean="0"/>
          </a:p>
          <a:p>
            <a:pPr fontAlgn="base">
              <a:lnSpc>
                <a:spcPct val="150000"/>
              </a:lnSpc>
            </a:pPr>
            <a:r>
              <a:rPr lang="en-US" altLang="ko-KR" sz="2800" smtClean="0">
                <a:solidFill>
                  <a:srgbClr val="00B050"/>
                </a:solidFill>
              </a:rPr>
              <a:t>=&gt; </a:t>
            </a:r>
            <a:r>
              <a:rPr lang="ko-KR" altLang="en-US" sz="2800" smtClean="0">
                <a:solidFill>
                  <a:srgbClr val="00B050"/>
                </a:solidFill>
              </a:rPr>
              <a:t>관계</a:t>
            </a:r>
            <a:r>
              <a:rPr lang="en-US" altLang="ko-KR" sz="2800" smtClean="0">
                <a:solidFill>
                  <a:srgbClr val="00B050"/>
                </a:solidFill>
              </a:rPr>
              <a:t>, </a:t>
            </a:r>
            <a:r>
              <a:rPr lang="ko-KR" altLang="en-US" sz="2800" smtClean="0">
                <a:solidFill>
                  <a:srgbClr val="00B050"/>
                </a:solidFill>
              </a:rPr>
              <a:t>경험</a:t>
            </a:r>
            <a:r>
              <a:rPr lang="en-US" altLang="ko-KR" sz="2800" smtClean="0">
                <a:solidFill>
                  <a:srgbClr val="00B050"/>
                </a:solidFill>
              </a:rPr>
              <a:t>, </a:t>
            </a:r>
            <a:r>
              <a:rPr lang="ko-KR" altLang="en-US" sz="2800" smtClean="0">
                <a:solidFill>
                  <a:srgbClr val="00B050"/>
                </a:solidFill>
              </a:rPr>
              <a:t>자기 만족 </a:t>
            </a:r>
            <a:r>
              <a:rPr lang="en-US" altLang="ko-KR" sz="2800" smtClean="0">
                <a:solidFill>
                  <a:srgbClr val="00B050"/>
                </a:solidFill>
              </a:rPr>
              <a:t> VS  </a:t>
            </a:r>
            <a:r>
              <a:rPr lang="ko-KR" altLang="en-US" sz="2800" smtClean="0">
                <a:solidFill>
                  <a:srgbClr val="00B050"/>
                </a:solidFill>
              </a:rPr>
              <a:t>돈</a:t>
            </a:r>
            <a:r>
              <a:rPr lang="en-US" altLang="ko-KR" sz="2800" smtClean="0">
                <a:solidFill>
                  <a:srgbClr val="00B050"/>
                </a:solidFill>
              </a:rPr>
              <a:t>, </a:t>
            </a:r>
            <a:r>
              <a:rPr lang="ko-KR" altLang="en-US" sz="2800" smtClean="0">
                <a:solidFill>
                  <a:srgbClr val="00B050"/>
                </a:solidFill>
              </a:rPr>
              <a:t>평가</a:t>
            </a:r>
            <a:r>
              <a:rPr lang="en-US" altLang="ko-KR" sz="2800" smtClean="0">
                <a:solidFill>
                  <a:srgbClr val="00B050"/>
                </a:solidFill>
              </a:rPr>
              <a:t>, </a:t>
            </a:r>
            <a:r>
              <a:rPr lang="ko-KR" altLang="en-US" sz="2800" smtClean="0">
                <a:solidFill>
                  <a:srgbClr val="00B050"/>
                </a:solidFill>
              </a:rPr>
              <a:t>비교  </a:t>
            </a:r>
            <a:endParaRPr lang="ko-KR" altLang="en-US" sz="280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10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02153" y="553792"/>
            <a:ext cx="880716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AS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혹은 수미상관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시소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VS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그네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자산형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VS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현금흐름성</a:t>
            </a:r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                 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++)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학기 당부 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mtClean="0"/>
              <a:t>경쟁 상대는 타인 </a:t>
            </a:r>
            <a:r>
              <a:rPr lang="en-US" altLang="ko-KR" sz="2800" smtClean="0"/>
              <a:t>&lt; </a:t>
            </a:r>
            <a:r>
              <a:rPr lang="ko-KR" altLang="en-US" sz="2800" smtClean="0"/>
              <a:t>과거의 나 </a:t>
            </a:r>
            <a:endParaRPr lang="en-US" altLang="ko-KR" sz="2800" smtClean="0"/>
          </a:p>
          <a:p>
            <a:endParaRPr lang="en-US" altLang="ko-KR" sz="2800" smtClean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800" smtClean="0">
                <a:solidFill>
                  <a:srgbClr val="3399FF"/>
                </a:solidFill>
              </a:rPr>
              <a:t> </a:t>
            </a:r>
            <a:r>
              <a:rPr lang="en-US" altLang="ko-KR" sz="2800" smtClean="0">
                <a:solidFill>
                  <a:srgbClr val="3399FF"/>
                </a:solidFill>
              </a:rPr>
              <a:t>AI </a:t>
            </a:r>
            <a:r>
              <a:rPr lang="ko-KR" altLang="en-US" sz="2800" smtClean="0">
                <a:solidFill>
                  <a:srgbClr val="3399FF"/>
                </a:solidFill>
              </a:rPr>
              <a:t>글쓰기</a:t>
            </a:r>
            <a:r>
              <a:rPr lang="en-US" altLang="ko-KR" sz="2800" smtClean="0">
                <a:solidFill>
                  <a:srgbClr val="3399FF"/>
                </a:solidFill>
              </a:rPr>
              <a:t>(</a:t>
            </a:r>
            <a:r>
              <a:rPr lang="ko-KR" altLang="en-US" sz="2800" smtClean="0">
                <a:solidFill>
                  <a:srgbClr val="3399FF"/>
                </a:solidFill>
              </a:rPr>
              <a:t>기말의 유혹</a:t>
            </a:r>
            <a:r>
              <a:rPr lang="en-US" altLang="ko-KR" sz="2800" smtClean="0">
                <a:solidFill>
                  <a:srgbClr val="3399FF"/>
                </a:solidFill>
              </a:rPr>
              <a:t>X):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2800" smtClean="0"/>
              <a:t>진실 거짓 구별</a:t>
            </a:r>
            <a:r>
              <a:rPr lang="en-US" altLang="ko-KR" sz="2800" smtClean="0"/>
              <a:t> </a:t>
            </a:r>
            <a:r>
              <a:rPr lang="ko-KR" altLang="en-US" sz="2800" smtClean="0"/>
              <a:t>무관심 </a:t>
            </a:r>
            <a:r>
              <a:rPr lang="en-US" altLang="ko-KR" sz="2800" smtClean="0"/>
              <a:t>: </a:t>
            </a:r>
            <a:r>
              <a:rPr lang="ko-KR" altLang="en-US" sz="2800" smtClean="0"/>
              <a:t>환각 현상 </a:t>
            </a:r>
            <a:r>
              <a:rPr lang="en-US" altLang="ko-KR" sz="2800" smtClean="0"/>
              <a:t>/ </a:t>
            </a:r>
            <a:r>
              <a:rPr lang="ko-KR" altLang="en-US" sz="2800" smtClean="0"/>
              <a:t>복붙</a:t>
            </a:r>
            <a:r>
              <a:rPr lang="en-US" altLang="ko-KR" sz="2800" smtClean="0"/>
              <a:t>-&gt; </a:t>
            </a:r>
            <a:r>
              <a:rPr lang="ko-KR" altLang="en-US" sz="2800" smtClean="0"/>
              <a:t>대량 </a:t>
            </a:r>
            <a:endParaRPr lang="en-US" altLang="ko-KR" sz="2800" smtClean="0"/>
          </a:p>
          <a:p>
            <a:pPr>
              <a:lnSpc>
                <a:spcPct val="150000"/>
              </a:lnSpc>
              <a:defRPr/>
            </a:pPr>
            <a:r>
              <a:rPr lang="ko-KR" altLang="en-US" sz="2800" smtClean="0"/>
              <a:t>내용의 재미 </a:t>
            </a:r>
            <a:r>
              <a:rPr lang="en-US" altLang="ko-KR" sz="2800" smtClean="0"/>
              <a:t>&lt; </a:t>
            </a:r>
            <a:r>
              <a:rPr lang="ko-KR" altLang="en-US" sz="2800" smtClean="0"/>
              <a:t>형식성    </a:t>
            </a:r>
            <a:r>
              <a:rPr lang="en-US" altLang="ko-KR" sz="2800" smtClean="0"/>
              <a:t>#</a:t>
            </a:r>
            <a:r>
              <a:rPr lang="ko-KR" altLang="en-US" sz="2800" smtClean="0"/>
              <a:t>독자를 움직이는 글 </a:t>
            </a:r>
            <a:endParaRPr lang="en-US" altLang="ko-KR" sz="2800" smtClean="0"/>
          </a:p>
          <a:p>
            <a:pPr>
              <a:lnSpc>
                <a:spcPct val="150000"/>
              </a:lnSpc>
              <a:defRPr/>
            </a:pPr>
            <a:endParaRPr lang="en-US" altLang="ko-KR" sz="280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800" smtClean="0"/>
              <a:t>실력 향상</a:t>
            </a:r>
            <a:r>
              <a:rPr lang="en-US" altLang="ko-KR" sz="2800" smtClean="0"/>
              <a:t>-</a:t>
            </a:r>
            <a:r>
              <a:rPr lang="ko-KR" altLang="en-US" sz="2800" smtClean="0"/>
              <a:t>자신감 </a:t>
            </a:r>
            <a:r>
              <a:rPr lang="en-US" altLang="ko-KR" sz="2800" smtClean="0"/>
              <a:t>: </a:t>
            </a:r>
            <a:r>
              <a:rPr lang="ko-KR" altLang="en-US" sz="2800" u="sng" smtClean="0"/>
              <a:t>논증문 주제에 대해서는 여러분이 전문가</a:t>
            </a:r>
            <a:r>
              <a:rPr lang="ko-KR" altLang="en-US" sz="2800" smtClean="0"/>
              <a:t>                  </a:t>
            </a:r>
            <a:r>
              <a:rPr lang="en-US" altLang="ko-KR" sz="2800" smtClean="0"/>
              <a:t>#</a:t>
            </a:r>
            <a:r>
              <a:rPr lang="ko-KR" altLang="en-US" sz="2800" smtClean="0"/>
              <a:t>근력 운동 </a:t>
            </a:r>
            <a:endParaRPr lang="en-US" altLang="ko-KR" sz="2800" smtClean="0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460432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83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7504" y="594950"/>
            <a:ext cx="9001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800" smtClean="0"/>
              <a:t>2.  </a:t>
            </a:r>
            <a:r>
              <a:rPr lang="ko-KR" altLang="en-US" sz="2800" smtClean="0"/>
              <a:t>공지사항</a:t>
            </a:r>
            <a:endParaRPr lang="en-US" altLang="ko-KR" sz="2800" smtClean="0"/>
          </a:p>
          <a:p>
            <a:pPr>
              <a:defRPr/>
            </a:pPr>
            <a:endParaRPr lang="en-US" altLang="ko-KR" sz="2800"/>
          </a:p>
          <a:p>
            <a:pPr marL="514350" indent="-514350">
              <a:buAutoNum type="arabicParenR"/>
              <a:defRPr/>
            </a:pP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중간고사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비평문 다시쓰기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제출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지난 시간 공지 내용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중간고사 피드백 완료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: </a:t>
            </a:r>
            <a:r>
              <a:rPr lang="ko-KR" altLang="en-US" sz="2800" spc="-150">
                <a:solidFill>
                  <a:srgbClr val="00B050"/>
                </a:solidFill>
                <a:latin typeface="+mn-ea"/>
              </a:rPr>
              <a:t>중간고사 게시판에 </a:t>
            </a:r>
            <a:r>
              <a:rPr lang="ko-KR" altLang="en-US" sz="2800" spc="-150" smtClean="0">
                <a:solidFill>
                  <a:srgbClr val="00B050"/>
                </a:solidFill>
                <a:latin typeface="+mn-ea"/>
              </a:rPr>
              <a:t>댓글로 입력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defRPr/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지난 주 피드백 완료 명단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[E2]: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도기남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정소율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이준서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외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D4]: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김민종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김현중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김민준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이소민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외</a:t>
            </a:r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defRPr/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ko-KR" altLang="en-US" sz="2800" smtClean="0"/>
              <a:t>다시쓰기 방식</a:t>
            </a:r>
            <a:r>
              <a:rPr lang="en-US" altLang="ko-KR" sz="2800" smtClean="0"/>
              <a:t>: </a:t>
            </a:r>
            <a:r>
              <a:rPr lang="ko-KR" altLang="en-US" sz="2800" smtClean="0"/>
              <a:t>중간고사 댓글 피드백 반영하여 수정</a:t>
            </a:r>
            <a:endParaRPr lang="en-US" altLang="ko-KR" sz="2800" smtClean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ko-KR" altLang="en-US" sz="2800" smtClean="0"/>
              <a:t>제출 날짜</a:t>
            </a:r>
            <a:r>
              <a:rPr lang="en-US" altLang="ko-KR" sz="2800" smtClean="0"/>
              <a:t>: </a:t>
            </a:r>
            <a:r>
              <a:rPr lang="en-US" altLang="ko-KR" sz="2800">
                <a:solidFill>
                  <a:srgbClr val="00B050"/>
                </a:solidFill>
              </a:rPr>
              <a:t>6</a:t>
            </a:r>
            <a:r>
              <a:rPr lang="ko-KR" altLang="en-US" sz="2800" smtClean="0">
                <a:solidFill>
                  <a:srgbClr val="00B050"/>
                </a:solidFill>
              </a:rPr>
              <a:t>월 </a:t>
            </a:r>
            <a:r>
              <a:rPr lang="en-US" altLang="ko-KR" sz="2800">
                <a:solidFill>
                  <a:srgbClr val="00B050"/>
                </a:solidFill>
              </a:rPr>
              <a:t>6</a:t>
            </a:r>
            <a:r>
              <a:rPr lang="ko-KR" altLang="en-US" sz="2800" smtClean="0">
                <a:solidFill>
                  <a:srgbClr val="00B050"/>
                </a:solidFill>
              </a:rPr>
              <a:t>일 </a:t>
            </a:r>
            <a:r>
              <a:rPr lang="ko-KR" altLang="en-US" sz="2800">
                <a:solidFill>
                  <a:srgbClr val="00B050"/>
                </a:solidFill>
              </a:rPr>
              <a:t>토</a:t>
            </a:r>
            <a:r>
              <a:rPr lang="ko-KR" altLang="en-US" sz="2800" smtClean="0">
                <a:solidFill>
                  <a:srgbClr val="00B050"/>
                </a:solidFill>
              </a:rPr>
              <a:t>요일까지</a:t>
            </a:r>
            <a:endParaRPr lang="en-US" altLang="ko-KR" sz="2800" smtClean="0">
              <a:solidFill>
                <a:srgbClr val="00B05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ko-KR" altLang="en-US" sz="2800" smtClean="0"/>
              <a:t>제출 방식</a:t>
            </a:r>
            <a:r>
              <a:rPr lang="en-US" altLang="ko-KR" sz="2800" smtClean="0"/>
              <a:t>: </a:t>
            </a:r>
            <a:r>
              <a:rPr lang="ko-KR" altLang="en-US" sz="2800" smtClean="0"/>
              <a:t>이메일</a:t>
            </a:r>
            <a:r>
              <a:rPr lang="en-US" altLang="ko-KR" sz="2800" smtClean="0"/>
              <a:t>(</a:t>
            </a:r>
            <a:r>
              <a:rPr lang="en-US" altLang="ko-KR" sz="2800" smtClean="0">
                <a:hlinkClick r:id="rId4"/>
              </a:rPr>
              <a:t>ueewon@naver.com</a:t>
            </a:r>
            <a:r>
              <a:rPr lang="en-US" altLang="ko-KR" sz="2800" smtClean="0"/>
              <a:t>)</a:t>
            </a:r>
            <a:r>
              <a:rPr lang="ko-KR" altLang="en-US" sz="2800" smtClean="0"/>
              <a:t> 첨부파일로 제출  </a:t>
            </a:r>
            <a:endParaRPr lang="en-US" altLang="ko-KR" sz="2800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460432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06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36840" y="594950"/>
            <a:ext cx="864096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 startAt="2"/>
              <a:defRPr/>
            </a:pPr>
            <a:r>
              <a:rPr lang="ko-KR" altLang="en-US" sz="2800" smtClean="0"/>
              <a:t>공지사항</a:t>
            </a:r>
            <a:r>
              <a:rPr lang="en-US" altLang="ko-KR" sz="2800" smtClean="0"/>
              <a:t> </a:t>
            </a:r>
          </a:p>
          <a:p>
            <a:pPr>
              <a:defRPr/>
            </a:pPr>
            <a:r>
              <a:rPr lang="en-US" altLang="ko-KR" sz="2800" smtClean="0"/>
              <a:t>  2) 15</a:t>
            </a:r>
            <a:r>
              <a:rPr lang="ko-KR" altLang="en-US" sz="2800"/>
              <a:t>주차 기말시험 대체 과제 제출</a:t>
            </a:r>
            <a:endParaRPr lang="en-US" altLang="ko-KR" sz="2800" smtClean="0"/>
          </a:p>
          <a:p>
            <a:pPr>
              <a:defRPr/>
            </a:pPr>
            <a:endParaRPr lang="en-US" altLang="ko-KR" sz="2800"/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ko-KR" altLang="en-US" sz="3200" smtClean="0">
                <a:solidFill>
                  <a:srgbClr val="3399FF"/>
                </a:solidFill>
              </a:rPr>
              <a:t>기말고사 대체</a:t>
            </a:r>
            <a:r>
              <a:rPr lang="en-US" altLang="ko-KR" sz="3200" smtClean="0">
                <a:solidFill>
                  <a:srgbClr val="3399FF"/>
                </a:solidFill>
              </a:rPr>
              <a:t>: </a:t>
            </a:r>
            <a:r>
              <a:rPr lang="ko-KR" altLang="en-US" sz="3200" smtClean="0">
                <a:solidFill>
                  <a:srgbClr val="3399FF"/>
                </a:solidFill>
              </a:rPr>
              <a:t>논증문 완성본 제출</a:t>
            </a:r>
            <a:endParaRPr lang="en-US" altLang="ko-KR" sz="3200">
              <a:solidFill>
                <a:srgbClr val="3399FF"/>
              </a:solidFill>
            </a:endParaRPr>
          </a:p>
          <a:p>
            <a:pPr marL="457200" indent="-457200">
              <a:buFontTx/>
              <a:buChar char="-"/>
              <a:defRPr/>
            </a:pPr>
            <a:r>
              <a:rPr lang="ko-KR" altLang="en-US" sz="2800"/>
              <a:t>제출 </a:t>
            </a:r>
            <a:r>
              <a:rPr lang="ko-KR" altLang="en-US" sz="2800" smtClean="0"/>
              <a:t>양식 </a:t>
            </a:r>
            <a:r>
              <a:rPr lang="ko-KR" altLang="en-US" sz="2800"/>
              <a:t>등은 중간고사 논증문과 동일함</a:t>
            </a:r>
            <a:endParaRPr lang="en-US" altLang="ko-KR" sz="2800"/>
          </a:p>
          <a:p>
            <a:pPr>
              <a:defRPr/>
            </a:pPr>
            <a:r>
              <a:rPr lang="en-US" altLang="ko-KR" sz="2800"/>
              <a:t>    : </a:t>
            </a:r>
            <a:r>
              <a:rPr lang="ko-KR" altLang="en-US" sz="2800"/>
              <a:t>자세한 내용은 </a:t>
            </a:r>
            <a:r>
              <a:rPr lang="en-US" altLang="ko-KR" sz="2800"/>
              <a:t>LMS &lt;</a:t>
            </a:r>
            <a:r>
              <a:rPr lang="ko-KR" altLang="en-US" sz="2800"/>
              <a:t>학습자료실</a:t>
            </a:r>
            <a:r>
              <a:rPr lang="en-US" altLang="ko-KR" sz="2800"/>
              <a:t>&gt; “7</a:t>
            </a:r>
            <a:r>
              <a:rPr lang="ko-KR" altLang="en-US" sz="2800"/>
              <a:t>주차 수업자료</a:t>
            </a:r>
            <a:r>
              <a:rPr lang="en-US" altLang="ko-KR" sz="2800"/>
              <a:t>-</a:t>
            </a:r>
            <a:r>
              <a:rPr lang="ko-KR" altLang="en-US" sz="2800"/>
              <a:t>중간고사 안내 파일</a:t>
            </a:r>
            <a:r>
              <a:rPr lang="en-US" altLang="ko-KR" sz="2800"/>
              <a:t>”</a:t>
            </a:r>
            <a:r>
              <a:rPr lang="ko-KR" altLang="en-US" sz="2800"/>
              <a:t>에서 확인하기</a:t>
            </a:r>
            <a:endParaRPr lang="en-US" altLang="ko-KR" sz="2800"/>
          </a:p>
          <a:p>
            <a:pPr lvl="0">
              <a:defRPr/>
            </a:pPr>
            <a:endParaRPr lang="en-US" altLang="ko-KR" sz="2800" spc="-150" smtClean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en-US" altLang="ko-KR" sz="2800"/>
              <a:t>-</a:t>
            </a:r>
            <a:r>
              <a:rPr lang="ko-KR" altLang="en-US" sz="2800"/>
              <a:t>제출 내용</a:t>
            </a:r>
            <a:r>
              <a:rPr lang="en-US" altLang="ko-KR" sz="2800"/>
              <a:t>: </a:t>
            </a:r>
            <a:r>
              <a:rPr lang="ko-KR" altLang="en-US" sz="2800"/>
              <a:t>제출자 명</a:t>
            </a:r>
            <a:r>
              <a:rPr lang="en-US" altLang="ko-KR" sz="2800"/>
              <a:t>+</a:t>
            </a:r>
            <a:r>
              <a:rPr lang="ko-KR" altLang="en-US" sz="2800"/>
              <a:t>논증문 주제문</a:t>
            </a:r>
            <a:r>
              <a:rPr lang="en-US" altLang="ko-KR" sz="2800"/>
              <a:t>+</a:t>
            </a:r>
            <a:r>
              <a:rPr lang="ko-KR" altLang="en-US" sz="2800"/>
              <a:t>논증문 </a:t>
            </a:r>
            <a:r>
              <a:rPr lang="ko-KR" altLang="en-US" sz="2800" smtClean="0"/>
              <a:t>문장식 개요</a:t>
            </a:r>
            <a:r>
              <a:rPr lang="en-US" altLang="ko-KR" sz="2800"/>
              <a:t>+</a:t>
            </a:r>
            <a:r>
              <a:rPr lang="ko-KR" altLang="en-US" sz="2800"/>
              <a:t>논증문 제목</a:t>
            </a:r>
            <a:r>
              <a:rPr lang="en-US" altLang="ko-KR" sz="2800"/>
              <a:t>+</a:t>
            </a:r>
            <a:r>
              <a:rPr lang="ko-KR" altLang="en-US" sz="2800"/>
              <a:t>논증문 본문</a:t>
            </a:r>
            <a:r>
              <a:rPr lang="en-US" altLang="ko-KR" sz="2800"/>
              <a:t>+ </a:t>
            </a:r>
            <a:r>
              <a:rPr lang="ko-KR" altLang="en-US" sz="2800" b="1" smtClean="0">
                <a:solidFill>
                  <a:srgbClr val="3399FF"/>
                </a:solidFill>
              </a:rPr>
              <a:t>변경사항</a:t>
            </a:r>
            <a:r>
              <a:rPr lang="en-US" altLang="ko-KR" sz="2800" b="1" smtClean="0">
                <a:solidFill>
                  <a:srgbClr val="3399FF"/>
                </a:solidFill>
              </a:rPr>
              <a:t>: </a:t>
            </a:r>
            <a:r>
              <a:rPr lang="ko-KR" altLang="en-US" sz="2800" b="1" smtClean="0">
                <a:solidFill>
                  <a:srgbClr val="3399FF"/>
                </a:solidFill>
              </a:rPr>
              <a:t>각주</a:t>
            </a:r>
            <a:r>
              <a:rPr lang="ko-KR" altLang="en-US" sz="2800" smtClean="0"/>
              <a:t> </a:t>
            </a:r>
            <a:r>
              <a:rPr lang="en-US" altLang="ko-KR" sz="2800" b="1">
                <a:solidFill>
                  <a:srgbClr val="3399FF"/>
                </a:solidFill>
              </a:rPr>
              <a:t>2</a:t>
            </a:r>
            <a:r>
              <a:rPr lang="ko-KR" altLang="en-US" sz="2800" b="1">
                <a:solidFill>
                  <a:srgbClr val="3399FF"/>
                </a:solidFill>
              </a:rPr>
              <a:t>개 </a:t>
            </a:r>
            <a:r>
              <a:rPr lang="ko-KR" altLang="en-US" sz="2800" b="1" smtClean="0">
                <a:solidFill>
                  <a:srgbClr val="3399FF"/>
                </a:solidFill>
              </a:rPr>
              <a:t>이상</a:t>
            </a:r>
            <a:r>
              <a:rPr lang="en-US" altLang="ko-KR" sz="2800" smtClean="0"/>
              <a:t>(</a:t>
            </a:r>
            <a:r>
              <a:rPr lang="ko-KR" altLang="en-US" sz="2800" smtClean="0"/>
              <a:t>중간고사</a:t>
            </a:r>
            <a:r>
              <a:rPr lang="en-US" altLang="ko-KR" sz="2800"/>
              <a:t> </a:t>
            </a:r>
            <a:r>
              <a:rPr lang="ko-KR" altLang="en-US" sz="2800" smtClean="0"/>
              <a:t>비평문에서는 </a:t>
            </a:r>
            <a:r>
              <a:rPr lang="en-US" altLang="ko-KR" sz="2800" smtClean="0"/>
              <a:t>1</a:t>
            </a:r>
            <a:r>
              <a:rPr lang="ko-KR" altLang="en-US" sz="2800" smtClean="0"/>
              <a:t>개 이상 </a:t>
            </a:r>
            <a:r>
              <a:rPr lang="en-US" altLang="ko-KR" sz="2800" smtClean="0"/>
              <a:t>)</a:t>
            </a:r>
            <a:endParaRPr lang="en-US" altLang="ko-KR" sz="2800"/>
          </a:p>
          <a:p>
            <a:pPr>
              <a:defRPr/>
            </a:pPr>
            <a:endParaRPr lang="en-US" altLang="ko-KR" sz="2800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473744" y="6416653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11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845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51520" y="594950"/>
            <a:ext cx="878497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800" smtClean="0"/>
              <a:t>- </a:t>
            </a:r>
            <a:r>
              <a:rPr lang="ko-KR" altLang="en-US" sz="2800" smtClean="0"/>
              <a:t>참고문헌의 </a:t>
            </a:r>
            <a:r>
              <a:rPr lang="ko-KR" altLang="en-US" sz="2800"/>
              <a:t>요건</a:t>
            </a:r>
            <a:r>
              <a:rPr lang="en-US" altLang="ko-KR" sz="2800"/>
              <a:t>: </a:t>
            </a:r>
            <a:r>
              <a:rPr lang="ko-KR" altLang="en-US" sz="2800"/>
              <a:t>신문기사</a:t>
            </a:r>
            <a:r>
              <a:rPr lang="en-US" altLang="ko-KR" sz="2800"/>
              <a:t>, </a:t>
            </a:r>
            <a:r>
              <a:rPr lang="ko-KR" altLang="en-US" sz="2800" smtClean="0"/>
              <a:t>통계 및 수치</a:t>
            </a:r>
            <a:r>
              <a:rPr lang="en-US" altLang="ko-KR" sz="2800" smtClean="0"/>
              <a:t>, </a:t>
            </a:r>
            <a:r>
              <a:rPr lang="ko-KR" altLang="en-US" sz="2800" smtClean="0"/>
              <a:t>전문가 의견</a:t>
            </a:r>
            <a:r>
              <a:rPr lang="en-US" altLang="ko-KR" sz="2800" smtClean="0"/>
              <a:t>, </a:t>
            </a:r>
            <a:r>
              <a:rPr lang="ko-KR" altLang="en-US" sz="2800" smtClean="0"/>
              <a:t>학술 </a:t>
            </a:r>
            <a:r>
              <a:rPr lang="ko-KR" altLang="en-US" sz="2800"/>
              <a:t>소논문 등 </a:t>
            </a:r>
            <a:endParaRPr lang="en-US" altLang="ko-KR" sz="2800"/>
          </a:p>
          <a:p>
            <a:pPr>
              <a:defRPr/>
            </a:pPr>
            <a:r>
              <a:rPr lang="ko-KR" altLang="en-US" sz="2800" smtClean="0"/>
              <a:t>영상물</a:t>
            </a:r>
            <a:r>
              <a:rPr lang="ko-KR" altLang="en-US" sz="2800"/>
              <a:t>은</a:t>
            </a:r>
            <a:r>
              <a:rPr lang="en-US" altLang="ko-KR" sz="2800" smtClean="0"/>
              <a:t> </a:t>
            </a:r>
            <a:r>
              <a:rPr lang="ko-KR" altLang="en-US" sz="2800" smtClean="0"/>
              <a:t>방송사 시사 프로그램이나 뉴스 </a:t>
            </a:r>
            <a:r>
              <a:rPr lang="ko-KR" altLang="en-US" sz="2800"/>
              <a:t>등 공신력 </a:t>
            </a:r>
            <a:r>
              <a:rPr lang="ko-KR" altLang="en-US" sz="2800" smtClean="0"/>
              <a:t>있는 출처의 콘텐츠일 경우 가능</a:t>
            </a:r>
            <a:endParaRPr lang="en-US" altLang="ko-KR" sz="2800" smtClean="0"/>
          </a:p>
          <a:p>
            <a:pPr>
              <a:defRPr/>
            </a:pPr>
            <a:r>
              <a:rPr lang="ko-KR" altLang="en-US" sz="2800"/>
              <a:t>유튜브 자료 피하기</a:t>
            </a:r>
            <a:r>
              <a:rPr lang="en-US" altLang="ko-KR" sz="2800"/>
              <a:t>: </a:t>
            </a:r>
            <a:r>
              <a:rPr lang="ko-KR" altLang="en-US" sz="2800"/>
              <a:t>활용 시 사전 문의하기</a:t>
            </a:r>
            <a:r>
              <a:rPr lang="en-US" altLang="ko-KR" sz="2800"/>
              <a:t>/ </a:t>
            </a:r>
          </a:p>
          <a:p>
            <a:pPr>
              <a:defRPr/>
            </a:pPr>
            <a:endParaRPr lang="en-US" altLang="ko-KR" sz="2800" smtClean="0"/>
          </a:p>
          <a:p>
            <a:pPr>
              <a:defRPr/>
            </a:pP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2800" spc="-150">
                <a:solidFill>
                  <a:prstClr val="black"/>
                </a:solidFill>
                <a:latin typeface="맑은 고딕" panose="020B0503020000020004" pitchFamily="50" charset="-127"/>
              </a:rPr>
              <a:t>제출 기한</a:t>
            </a:r>
            <a:r>
              <a:rPr lang="en-US" altLang="ko-KR" sz="2800" spc="-15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2800" b="1" spc="-150">
                <a:solidFill>
                  <a:srgbClr val="0066FF"/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2800" b="1" spc="-150" smtClean="0">
                <a:solidFill>
                  <a:srgbClr val="0066FF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2800" b="1" spc="-150" smtClean="0">
                <a:solidFill>
                  <a:srgbClr val="0066FF"/>
                </a:solidFill>
                <a:latin typeface="맑은 고딕" panose="020B0503020000020004" pitchFamily="50" charset="-127"/>
              </a:rPr>
              <a:t>17</a:t>
            </a:r>
            <a:r>
              <a:rPr lang="ko-KR" altLang="en-US" sz="2800" b="1" spc="-150" smtClean="0">
                <a:solidFill>
                  <a:srgbClr val="0066FF"/>
                </a:solidFill>
                <a:latin typeface="맑은 고딕" panose="020B0503020000020004" pitchFamily="50" charset="-127"/>
              </a:rPr>
              <a:t>일 수요일까지</a:t>
            </a:r>
            <a:endParaRPr lang="en-US" altLang="ko-KR" sz="2800" b="1" spc="-150">
              <a:solidFill>
                <a:srgbClr val="0066FF"/>
              </a:solidFill>
              <a:latin typeface="맑은 고딕" panose="020B0503020000020004" pitchFamily="50" charset="-127"/>
            </a:endParaRPr>
          </a:p>
          <a:p>
            <a:pPr lvl="0">
              <a:defRPr/>
            </a:pPr>
            <a:r>
              <a:rPr lang="en-US" altLang="ko-KR" sz="2800" spc="-150"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2800" spc="-150">
                <a:solidFill>
                  <a:prstClr val="black"/>
                </a:solidFill>
                <a:latin typeface="맑은 고딕" panose="020B0503020000020004" pitchFamily="50" charset="-127"/>
              </a:rPr>
              <a:t>제출 방법</a:t>
            </a:r>
            <a:r>
              <a:rPr lang="en-US" altLang="ko-KR" sz="2800" spc="-15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이메일에 문서 파일</a:t>
            </a: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첨부</a:t>
            </a: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</a:p>
          <a:p>
            <a:pPr lvl="0">
              <a:defRPr/>
            </a:pP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메일</a:t>
            </a: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주소</a:t>
            </a: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2800" u="sng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ueewon1@naver.com</a:t>
            </a:r>
          </a:p>
          <a:p>
            <a:pPr lvl="0">
              <a:defRPr/>
            </a:pPr>
            <a:r>
              <a:rPr lang="en-US" altLang="ko-KR" sz="2800" spc="-15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계절학기 시작시 </a:t>
            </a: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LMS 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학기 메뉴 변화 고려 </a:t>
            </a:r>
            <a:endParaRPr lang="en-US" altLang="ko-KR" sz="2800" spc="-15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lvl="0">
              <a:defRPr/>
            </a:pPr>
            <a:endParaRPr lang="en-US" altLang="ko-KR" sz="2800" spc="-15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457200" lvl="0" indent="-457200">
              <a:buFont typeface="Wingdings" panose="05000000000000000000" pitchFamily="2" charset="2"/>
              <a:buChar char="ü"/>
              <a:defRPr/>
            </a:pP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확인하기</a:t>
            </a: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파일</a:t>
            </a: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800" spc="-150">
                <a:solidFill>
                  <a:prstClr val="black"/>
                </a:solidFill>
                <a:latin typeface="맑은 고딕" panose="020B0503020000020004" pitchFamily="50" charset="-127"/>
              </a:rPr>
              <a:t>첨부 여부</a:t>
            </a:r>
            <a:r>
              <a:rPr lang="en-US" altLang="ko-KR" sz="2800" spc="-150">
                <a:solidFill>
                  <a:prstClr val="black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2800" spc="-150">
                <a:solidFill>
                  <a:prstClr val="black"/>
                </a:solidFill>
                <a:latin typeface="맑은 고딕" panose="020B0503020000020004" pitchFamily="50" charset="-127"/>
              </a:rPr>
              <a:t>맞는 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파일인지</a:t>
            </a: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메일 발신주소가 정확한지</a:t>
            </a:r>
            <a:r>
              <a:rPr lang="en-US" altLang="ko-KR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메일 </a:t>
            </a:r>
            <a:r>
              <a:rPr lang="ko-KR" altLang="en-US" sz="2800" spc="-150">
                <a:solidFill>
                  <a:prstClr val="black"/>
                </a:solidFill>
                <a:latin typeface="맑은 고딕" panose="020B0503020000020004" pitchFamily="50" charset="-127"/>
              </a:rPr>
              <a:t>제대로 </a:t>
            </a:r>
            <a:r>
              <a:rPr lang="ko-KR" altLang="en-US" sz="2800" spc="-150" smtClean="0">
                <a:solidFill>
                  <a:prstClr val="black"/>
                </a:solidFill>
                <a:latin typeface="맑은 고딕" panose="020B0503020000020004" pitchFamily="50" charset="-127"/>
              </a:rPr>
              <a:t>발송 되었는지 등</a:t>
            </a:r>
            <a:endParaRPr lang="en-US" altLang="ko-KR" sz="2800" spc="-150">
              <a:solidFill>
                <a:prstClr val="white">
                  <a:lumMod val="65000"/>
                </a:prstClr>
              </a:solidFill>
              <a:latin typeface="-윤고딕320" panose="02030504000101010101" pitchFamily="18" charset="-127"/>
              <a:ea typeface="-윤고딕320" panose="02030504000101010101" pitchFamily="18" charset="-127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460432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6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7504" y="594950"/>
            <a:ext cx="88702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ko-KR" sz="3200" spc="-150" smtClean="0">
                <a:latin typeface="+mn-ea"/>
              </a:rPr>
              <a:t>-</a:t>
            </a:r>
            <a:r>
              <a:rPr lang="ko-KR" altLang="en-US" sz="3200" spc="-150">
                <a:latin typeface="+mn-ea"/>
              </a:rPr>
              <a:t>분량</a:t>
            </a:r>
            <a:r>
              <a:rPr lang="en-US" altLang="ko-KR" sz="3200" spc="-150">
                <a:latin typeface="+mn-ea"/>
              </a:rPr>
              <a:t>:  </a:t>
            </a:r>
            <a:r>
              <a:rPr lang="en-US" altLang="ko-KR" sz="3200" u="sng" spc="-150" smtClean="0">
                <a:latin typeface="+mn-ea"/>
              </a:rPr>
              <a:t>1,500</a:t>
            </a:r>
            <a:r>
              <a:rPr lang="ko-KR" altLang="en-US" sz="3200" u="sng" spc="-150" smtClean="0">
                <a:latin typeface="+mn-ea"/>
              </a:rPr>
              <a:t>자 이상</a:t>
            </a:r>
            <a:endParaRPr lang="en-US" altLang="ko-KR" sz="3200" u="sng" spc="-150" smtClean="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3200" spc="-150" smtClean="0">
                <a:latin typeface="+mn-ea"/>
              </a:rPr>
              <a:t>주제문과</a:t>
            </a:r>
            <a:r>
              <a:rPr lang="en-US" altLang="ko-KR" sz="3200" spc="-150" smtClean="0">
                <a:latin typeface="+mn-ea"/>
              </a:rPr>
              <a:t> </a:t>
            </a:r>
            <a:r>
              <a:rPr lang="ko-KR" altLang="en-US" sz="3200" spc="-150">
                <a:latin typeface="+mn-ea"/>
              </a:rPr>
              <a:t>개요</a:t>
            </a:r>
            <a:r>
              <a:rPr lang="en-US" altLang="ko-KR" sz="3200" spc="-150">
                <a:latin typeface="+mn-ea"/>
              </a:rPr>
              <a:t>, </a:t>
            </a:r>
            <a:r>
              <a:rPr lang="ko-KR" altLang="en-US" sz="3200" spc="-150">
                <a:latin typeface="+mn-ea"/>
              </a:rPr>
              <a:t>참고문헌을 제외한 본문 기준 </a:t>
            </a:r>
            <a:r>
              <a:rPr lang="en-US" altLang="ko-KR" sz="3200" spc="-150" smtClean="0">
                <a:latin typeface="+mn-ea"/>
              </a:rPr>
              <a:t>/ 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ko-KR" sz="3200" spc="-150" smtClean="0">
                <a:latin typeface="+mn-ea"/>
              </a:rPr>
              <a:t>A4 </a:t>
            </a:r>
            <a:r>
              <a:rPr lang="ko-KR" altLang="en-US" sz="3200" spc="-150" smtClean="0">
                <a:latin typeface="+mn-ea"/>
              </a:rPr>
              <a:t>문서 파일 </a:t>
            </a:r>
            <a:r>
              <a:rPr lang="ko-KR" altLang="en-US" sz="3200" spc="-150">
                <a:latin typeface="+mn-ea"/>
              </a:rPr>
              <a:t>기본 형식 </a:t>
            </a:r>
            <a:r>
              <a:rPr lang="en-US" altLang="ko-KR" sz="3200" spc="-150">
                <a:latin typeface="+mn-ea"/>
              </a:rPr>
              <a:t>(</a:t>
            </a:r>
            <a:r>
              <a:rPr lang="ko-KR" altLang="en-US" sz="3200" spc="-150">
                <a:latin typeface="+mn-ea"/>
              </a:rPr>
              <a:t>글자크기</a:t>
            </a:r>
            <a:r>
              <a:rPr lang="en-US" altLang="ko-KR" sz="3200" spc="-150">
                <a:latin typeface="+mn-ea"/>
              </a:rPr>
              <a:t>, </a:t>
            </a:r>
            <a:r>
              <a:rPr lang="ko-KR" altLang="en-US" sz="3200" spc="-150">
                <a:latin typeface="+mn-ea"/>
              </a:rPr>
              <a:t>자간 등</a:t>
            </a:r>
            <a:r>
              <a:rPr lang="en-US" altLang="ko-KR" sz="3200" spc="-150" smtClean="0">
                <a:latin typeface="+mn-ea"/>
              </a:rPr>
              <a:t>)</a:t>
            </a:r>
            <a:endParaRPr lang="en-US" altLang="ko-KR" sz="3200" u="sng" spc="-150">
              <a:latin typeface="+mn-ea"/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3200" spc="-150">
                <a:solidFill>
                  <a:srgbClr val="00B050"/>
                </a:solidFill>
                <a:latin typeface="+mn-ea"/>
              </a:rPr>
              <a:t>문단 사이 한 줄 여백이 없을 때 </a:t>
            </a:r>
            <a:r>
              <a:rPr lang="ko-KR" altLang="en-US" sz="3200" spc="-150" smtClean="0">
                <a:solidFill>
                  <a:srgbClr val="00B050"/>
                </a:solidFill>
                <a:latin typeface="+mn-ea"/>
              </a:rPr>
              <a:t>기준</a:t>
            </a:r>
            <a:endParaRPr lang="en-US" altLang="ko-KR" sz="3200" spc="-150">
              <a:solidFill>
                <a:srgbClr val="00B050"/>
              </a:solidFill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3200" spc="-150" smtClean="0">
                <a:latin typeface="+mn-ea"/>
              </a:rPr>
              <a:t>-</a:t>
            </a:r>
            <a:r>
              <a:rPr lang="ko-KR" altLang="en-US" sz="3200" spc="-150" smtClean="0">
                <a:latin typeface="+mn-ea"/>
              </a:rPr>
              <a:t>문서파일 형식 </a:t>
            </a:r>
            <a:r>
              <a:rPr lang="en-US" altLang="ko-KR" sz="3200" spc="-150" smtClean="0">
                <a:latin typeface="+mn-ea"/>
              </a:rPr>
              <a:t>: </a:t>
            </a:r>
            <a:r>
              <a:rPr lang="ko-KR" altLang="en-US" sz="3200" spc="-150" smtClean="0">
                <a:latin typeface="+mn-ea"/>
              </a:rPr>
              <a:t>한글 구 버전</a:t>
            </a:r>
            <a:r>
              <a:rPr lang="en-US" altLang="ko-KR" sz="3200" spc="-150" smtClean="0">
                <a:latin typeface="+mn-ea"/>
              </a:rPr>
              <a:t>, </a:t>
            </a:r>
            <a:r>
              <a:rPr lang="ko-KR" altLang="en-US" sz="3200" spc="-150" smtClean="0">
                <a:latin typeface="+mn-ea"/>
              </a:rPr>
              <a:t>워드</a:t>
            </a:r>
            <a:r>
              <a:rPr lang="en-US" altLang="ko-KR" sz="3200" spc="-150" smtClean="0">
                <a:latin typeface="+mn-ea"/>
              </a:rPr>
              <a:t>, PDF </a:t>
            </a:r>
            <a:r>
              <a:rPr lang="ko-KR" altLang="en-US" sz="3200" spc="-150" smtClean="0">
                <a:latin typeface="+mn-ea"/>
              </a:rPr>
              <a:t>등 </a:t>
            </a:r>
            <a:endParaRPr lang="en-US" altLang="ko-KR" sz="3200" spc="-15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3200" spc="-150" smtClean="0">
                <a:latin typeface="+mn-ea"/>
              </a:rPr>
              <a:t>-</a:t>
            </a:r>
            <a:r>
              <a:rPr lang="ko-KR" altLang="en-US" sz="3200" spc="-150" smtClean="0">
                <a:latin typeface="+mn-ea"/>
              </a:rPr>
              <a:t>문서 파일 각주 넣는 법 확인하기</a:t>
            </a:r>
            <a:endParaRPr lang="en-US" altLang="ko-KR" sz="3200" spc="-150" smtClean="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3200" spc="-150">
                <a:latin typeface="+mn-ea"/>
              </a:rPr>
              <a:t> </a:t>
            </a:r>
            <a:r>
              <a:rPr lang="ko-KR" altLang="en-US" sz="3200" spc="-150" smtClean="0">
                <a:latin typeface="+mn-ea"/>
              </a:rPr>
              <a:t>한글</a:t>
            </a:r>
            <a:r>
              <a:rPr lang="en-US" altLang="ko-KR" sz="3200" spc="-150" smtClean="0">
                <a:latin typeface="+mn-ea"/>
              </a:rPr>
              <a:t>: </a:t>
            </a:r>
            <a:r>
              <a:rPr lang="ko-KR" altLang="en-US" sz="3200" spc="-150" smtClean="0">
                <a:latin typeface="+mn-ea"/>
              </a:rPr>
              <a:t>입력</a:t>
            </a:r>
            <a:r>
              <a:rPr lang="en-US" altLang="ko-KR" sz="3200" spc="-150" smtClean="0">
                <a:latin typeface="+mn-ea"/>
              </a:rPr>
              <a:t>-&gt;</a:t>
            </a:r>
            <a:r>
              <a:rPr lang="ko-KR" altLang="en-US" sz="3200" spc="-150" smtClean="0">
                <a:latin typeface="+mn-ea"/>
              </a:rPr>
              <a:t>주석</a:t>
            </a:r>
            <a:r>
              <a:rPr lang="en-US" altLang="ko-KR" sz="3200" spc="-150" smtClean="0">
                <a:latin typeface="+mn-ea"/>
              </a:rPr>
              <a:t>-&gt;</a:t>
            </a:r>
            <a:r>
              <a:rPr lang="ko-KR" altLang="en-US" sz="3200" spc="-150" smtClean="0">
                <a:latin typeface="+mn-ea"/>
              </a:rPr>
              <a:t>각주</a:t>
            </a:r>
            <a:r>
              <a:rPr lang="en-US" altLang="ko-KR" sz="3200" spc="-150" smtClean="0">
                <a:latin typeface="+mn-ea"/>
              </a:rPr>
              <a:t>/ </a:t>
            </a:r>
            <a:r>
              <a:rPr lang="ko-KR" altLang="en-US" sz="3200" spc="-150" smtClean="0">
                <a:latin typeface="+mn-ea"/>
              </a:rPr>
              <a:t>워드</a:t>
            </a:r>
            <a:r>
              <a:rPr lang="en-US" altLang="ko-KR" sz="3200" spc="-150" smtClean="0">
                <a:latin typeface="+mn-ea"/>
              </a:rPr>
              <a:t>: </a:t>
            </a:r>
            <a:r>
              <a:rPr lang="ko-KR" altLang="en-US" sz="3200" spc="-150" smtClean="0">
                <a:latin typeface="+mn-ea"/>
              </a:rPr>
              <a:t>참조</a:t>
            </a:r>
            <a:r>
              <a:rPr lang="en-US" altLang="ko-KR" sz="3200" spc="-150" smtClean="0">
                <a:latin typeface="+mn-ea"/>
              </a:rPr>
              <a:t>-&gt;</a:t>
            </a:r>
            <a:r>
              <a:rPr lang="ko-KR" altLang="en-US" sz="3200" spc="-150" smtClean="0">
                <a:latin typeface="+mn-ea"/>
              </a:rPr>
              <a:t>각주 삽입  </a:t>
            </a:r>
            <a:endParaRPr lang="en-US" altLang="ko-KR" sz="3200" spc="-150">
              <a:latin typeface="+mn-ea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460432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13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06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7504" y="594950"/>
            <a:ext cx="88702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ko-KR" sz="3200" spc="-150" smtClean="0">
                <a:latin typeface="+mn-ea"/>
              </a:rPr>
              <a:t>3) </a:t>
            </a:r>
            <a:r>
              <a:rPr lang="ko-KR" altLang="en-US" sz="3200" spc="-150" smtClean="0">
                <a:latin typeface="+mn-ea"/>
              </a:rPr>
              <a:t>다음 주 </a:t>
            </a:r>
            <a:r>
              <a:rPr lang="en-US" altLang="ko-KR" sz="3200" spc="-150" smtClean="0">
                <a:latin typeface="+mn-ea"/>
              </a:rPr>
              <a:t>15</a:t>
            </a:r>
            <a:r>
              <a:rPr lang="ko-KR" altLang="en-US" sz="3200" spc="-150" smtClean="0">
                <a:latin typeface="+mn-ea"/>
              </a:rPr>
              <a:t>주차 안내</a:t>
            </a:r>
            <a:endParaRPr lang="en-US" altLang="ko-KR" sz="3200" spc="-150">
              <a:latin typeface="+mn-ea"/>
            </a:endParaRPr>
          </a:p>
          <a:p>
            <a:pPr marL="457200" lvl="0" indent="-457200">
              <a:buFontTx/>
              <a:buChar char="-"/>
              <a:defRPr/>
            </a:pPr>
            <a:r>
              <a:rPr lang="ko-KR" altLang="en-US" sz="3200" spc="-150" smtClean="0">
                <a:solidFill>
                  <a:srgbClr val="00B050"/>
                </a:solidFill>
                <a:latin typeface="+mn-ea"/>
              </a:rPr>
              <a:t>실습</a:t>
            </a:r>
            <a:r>
              <a:rPr lang="en-US" altLang="ko-KR" sz="3200" spc="-150" smtClean="0">
                <a:solidFill>
                  <a:srgbClr val="00B050"/>
                </a:solidFill>
                <a:latin typeface="+mn-ea"/>
              </a:rPr>
              <a:t>: </a:t>
            </a:r>
            <a:r>
              <a:rPr lang="ko-KR" altLang="en-US" sz="3200" spc="-150" smtClean="0">
                <a:solidFill>
                  <a:srgbClr val="00B050"/>
                </a:solidFill>
                <a:latin typeface="+mn-ea"/>
              </a:rPr>
              <a:t>당일 주제 제시 글쓰기</a:t>
            </a:r>
            <a:endParaRPr lang="en-US" altLang="ko-KR" sz="3200" spc="-150" smtClean="0">
              <a:solidFill>
                <a:srgbClr val="00B050"/>
              </a:solidFill>
              <a:latin typeface="+mn-ea"/>
            </a:endParaRPr>
          </a:p>
          <a:p>
            <a:pPr marL="457200" lvl="0" indent="-457200">
              <a:buFontTx/>
              <a:buChar char="-"/>
              <a:defRPr/>
            </a:pPr>
            <a:r>
              <a:rPr lang="ko-KR" altLang="en-US" sz="3200" spc="-150" smtClean="0">
                <a:latin typeface="+mn-ea"/>
              </a:rPr>
              <a:t>기말고사 대체</a:t>
            </a:r>
            <a:r>
              <a:rPr lang="en-US" altLang="ko-KR" sz="3200" spc="-150" smtClean="0">
                <a:latin typeface="+mn-ea"/>
              </a:rPr>
              <a:t>X (</a:t>
            </a:r>
            <a:r>
              <a:rPr lang="ko-KR" altLang="en-US" sz="3200" spc="-150" smtClean="0">
                <a:latin typeface="+mn-ea"/>
              </a:rPr>
              <a:t>기말고사 대체 과제는 논증문 제출</a:t>
            </a:r>
            <a:r>
              <a:rPr lang="en-US" altLang="ko-KR" sz="3200" spc="-150" smtClean="0">
                <a:latin typeface="+mn-ea"/>
              </a:rPr>
              <a:t>) ,  </a:t>
            </a:r>
            <a:r>
              <a:rPr lang="ko-KR" altLang="en-US" sz="3200" spc="-150" smtClean="0">
                <a:latin typeface="+mn-ea"/>
              </a:rPr>
              <a:t>실습 </a:t>
            </a:r>
            <a:r>
              <a:rPr lang="en-US" altLang="ko-KR" sz="3200" spc="-150" smtClean="0">
                <a:latin typeface="+mn-ea"/>
              </a:rPr>
              <a:t>0 </a:t>
            </a:r>
          </a:p>
          <a:p>
            <a:pPr marL="457200" lvl="0" indent="-457200">
              <a:buFontTx/>
              <a:buChar char="-"/>
              <a:defRPr/>
            </a:pPr>
            <a:r>
              <a:rPr lang="ko-KR" altLang="en-US" sz="3200" spc="-150" smtClean="0">
                <a:latin typeface="+mn-ea"/>
              </a:rPr>
              <a:t>배정 시간</a:t>
            </a:r>
            <a:r>
              <a:rPr lang="en-US" altLang="ko-KR" sz="3200" spc="-150" smtClean="0">
                <a:latin typeface="+mn-ea"/>
              </a:rPr>
              <a:t>: 1</a:t>
            </a:r>
            <a:r>
              <a:rPr lang="ko-KR" altLang="en-US" sz="3200" spc="-150" smtClean="0">
                <a:latin typeface="+mn-ea"/>
              </a:rPr>
              <a:t>시간 </a:t>
            </a:r>
            <a:endParaRPr lang="en-US" altLang="ko-KR" sz="3200" spc="-150" smtClean="0">
              <a:latin typeface="+mn-ea"/>
            </a:endParaRPr>
          </a:p>
          <a:p>
            <a:pPr marL="457200" lvl="0" indent="-457200">
              <a:buFontTx/>
              <a:buChar char="-"/>
              <a:defRPr/>
            </a:pPr>
            <a:r>
              <a:rPr lang="ko-KR" altLang="en-US" sz="3200" spc="-150" smtClean="0">
                <a:latin typeface="+mn-ea"/>
              </a:rPr>
              <a:t>당일 배부하는 실습지와 필기도구만 사용 가능</a:t>
            </a:r>
            <a:endParaRPr lang="en-US" altLang="ko-KR" sz="3200" spc="-150" smtClean="0">
              <a:latin typeface="+mn-ea"/>
            </a:endParaRPr>
          </a:p>
          <a:p>
            <a:pPr lvl="0">
              <a:defRPr/>
            </a:pPr>
            <a:r>
              <a:rPr lang="ko-KR" altLang="en-US" sz="3200" spc="-150" smtClean="0">
                <a:latin typeface="+mn-ea"/>
              </a:rPr>
              <a:t>스마트 전자 기기 사용 불가</a:t>
            </a:r>
            <a:r>
              <a:rPr lang="en-US" altLang="ko-KR" sz="3200" spc="-150" smtClean="0">
                <a:latin typeface="+mn-ea"/>
              </a:rPr>
              <a:t>(</a:t>
            </a:r>
            <a:r>
              <a:rPr lang="ko-KR" altLang="en-US" sz="3200" spc="-150" smtClean="0">
                <a:latin typeface="+mn-ea"/>
              </a:rPr>
              <a:t>휴대 전화</a:t>
            </a:r>
            <a:r>
              <a:rPr lang="en-US" altLang="ko-KR" sz="3200" spc="-150" smtClean="0">
                <a:latin typeface="+mn-ea"/>
              </a:rPr>
              <a:t>, </a:t>
            </a:r>
            <a:r>
              <a:rPr lang="ko-KR" altLang="en-US" sz="3200" spc="-150" smtClean="0">
                <a:latin typeface="+mn-ea"/>
              </a:rPr>
              <a:t>태블릿 </a:t>
            </a:r>
            <a:r>
              <a:rPr lang="en-US" altLang="ko-KR" sz="3200" spc="-150" smtClean="0">
                <a:latin typeface="+mn-ea"/>
              </a:rPr>
              <a:t>PC, </a:t>
            </a:r>
          </a:p>
          <a:p>
            <a:pPr lvl="0">
              <a:defRPr/>
            </a:pPr>
            <a:r>
              <a:rPr lang="ko-KR" altLang="en-US" sz="3200" spc="-150" smtClean="0">
                <a:latin typeface="+mn-ea"/>
              </a:rPr>
              <a:t>노트북 모두 이용 금지</a:t>
            </a:r>
            <a:r>
              <a:rPr lang="en-US" altLang="ko-KR" sz="3200" spc="-150" smtClean="0">
                <a:latin typeface="+mn-ea"/>
              </a:rPr>
              <a:t>)</a:t>
            </a:r>
          </a:p>
          <a:p>
            <a:pPr lvl="0">
              <a:defRPr/>
            </a:pPr>
            <a:r>
              <a:rPr lang="en-US" altLang="ko-KR" sz="3200" spc="-150" smtClean="0">
                <a:latin typeface="+mn-ea"/>
              </a:rPr>
              <a:t>- </a:t>
            </a:r>
            <a:r>
              <a:rPr lang="ko-KR" altLang="en-US" sz="3200" u="sng" spc="-150" smtClean="0">
                <a:latin typeface="+mn-ea"/>
              </a:rPr>
              <a:t>취지</a:t>
            </a:r>
            <a:r>
              <a:rPr lang="en-US" altLang="ko-KR" sz="3200" u="sng" spc="-150" smtClean="0">
                <a:latin typeface="+mn-ea"/>
              </a:rPr>
              <a:t>: </a:t>
            </a:r>
            <a:r>
              <a:rPr lang="ko-KR" altLang="en-US" sz="3200" u="sng" spc="-150" smtClean="0">
                <a:latin typeface="+mn-ea"/>
              </a:rPr>
              <a:t>글쓰기 실력 평가</a:t>
            </a:r>
            <a:r>
              <a:rPr lang="en-US" altLang="ko-KR" sz="3200" u="sng" spc="-150" smtClean="0">
                <a:latin typeface="+mn-ea"/>
              </a:rPr>
              <a:t>; </a:t>
            </a:r>
            <a:r>
              <a:rPr lang="ko-KR" altLang="en-US" sz="3200" u="sng" spc="-150" smtClean="0">
                <a:latin typeface="+mn-ea"/>
              </a:rPr>
              <a:t>주제 사건 공지 하지 않는 이유와 연결됨 </a:t>
            </a:r>
            <a:endParaRPr lang="en-US" altLang="ko-KR" sz="3200" u="sng" spc="-150">
              <a:latin typeface="+mn-ea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460432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14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5660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89756" y="522365"/>
            <a:ext cx="8964488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150" smtClean="0">
                <a:latin typeface="+mj-ea"/>
                <a:ea typeface="+mj-ea"/>
              </a:rPr>
              <a:t>2. </a:t>
            </a:r>
            <a:r>
              <a:rPr lang="ko-KR" altLang="en-US" sz="2800" spc="-150" smtClean="0">
                <a:latin typeface="+mj-ea"/>
                <a:ea typeface="+mj-ea"/>
              </a:rPr>
              <a:t>공지사항</a:t>
            </a:r>
            <a:endParaRPr lang="en-US" altLang="ko-KR" sz="2800" spc="-150" smtClean="0">
              <a:latin typeface="+mj-ea"/>
              <a:ea typeface="+mj-ea"/>
            </a:endParaRPr>
          </a:p>
          <a:p>
            <a:r>
              <a:rPr lang="en-US" altLang="ko-KR" sz="2800" spc="-150">
                <a:latin typeface="+mj-ea"/>
                <a:ea typeface="+mj-ea"/>
              </a:rPr>
              <a:t> </a:t>
            </a:r>
            <a:r>
              <a:rPr lang="en-US" altLang="ko-KR" sz="2800" spc="-150" smtClean="0">
                <a:latin typeface="+mj-ea"/>
                <a:ea typeface="+mj-ea"/>
              </a:rPr>
              <a:t> 4) </a:t>
            </a:r>
            <a:r>
              <a:rPr lang="en-US" altLang="ko-KR" sz="2800" u="sng" spc="-150" smtClean="0">
                <a:latin typeface="+mj-ea"/>
                <a:ea typeface="+mj-ea"/>
              </a:rPr>
              <a:t>10</a:t>
            </a:r>
            <a:r>
              <a:rPr lang="ko-KR" altLang="en-US" sz="2800" u="sng" spc="-150" smtClean="0">
                <a:latin typeface="+mj-ea"/>
                <a:ea typeface="+mj-ea"/>
              </a:rPr>
              <a:t>주차 보강 과제 채점 예정</a:t>
            </a:r>
            <a:r>
              <a:rPr lang="en-US" altLang="ko-KR" sz="2800" u="sng" spc="-150" smtClean="0">
                <a:latin typeface="+mj-ea"/>
                <a:ea typeface="+mj-ea"/>
              </a:rPr>
              <a:t>: 6</a:t>
            </a:r>
            <a:r>
              <a:rPr lang="ko-KR" altLang="en-US" sz="2800" u="sng" spc="-150" smtClean="0">
                <a:latin typeface="+mj-ea"/>
                <a:ea typeface="+mj-ea"/>
              </a:rPr>
              <a:t>월 </a:t>
            </a:r>
            <a:r>
              <a:rPr lang="en-US" altLang="ko-KR" sz="2800" u="sng" spc="-150" smtClean="0">
                <a:latin typeface="+mj-ea"/>
                <a:ea typeface="+mj-ea"/>
              </a:rPr>
              <a:t>8</a:t>
            </a:r>
            <a:r>
              <a:rPr lang="ko-KR" altLang="en-US" sz="2800" u="sng" spc="-150" smtClean="0">
                <a:latin typeface="+mj-ea"/>
                <a:ea typeface="+mj-ea"/>
              </a:rPr>
              <a:t>일 월요일까지</a:t>
            </a:r>
            <a:endParaRPr lang="en-US" altLang="ko-KR" sz="2800" u="sng" spc="-150" smtClean="0">
              <a:latin typeface="+mj-ea"/>
              <a:ea typeface="+mj-ea"/>
            </a:endParaRPr>
          </a:p>
          <a:p>
            <a:r>
              <a:rPr lang="en-US" altLang="ko-KR" sz="2800" spc="-150">
                <a:latin typeface="+mj-ea"/>
                <a:ea typeface="+mj-ea"/>
              </a:rPr>
              <a:t> </a:t>
            </a:r>
            <a:r>
              <a:rPr lang="en-US" altLang="ko-KR" sz="2800" spc="-150" smtClean="0">
                <a:latin typeface="+mj-ea"/>
                <a:ea typeface="+mj-ea"/>
              </a:rPr>
              <a:t>     LMS</a:t>
            </a:r>
            <a:r>
              <a:rPr lang="ko-KR" altLang="en-US" sz="2800" spc="-150" smtClean="0">
                <a:latin typeface="+mj-ea"/>
                <a:ea typeface="+mj-ea"/>
              </a:rPr>
              <a:t>에서 확인하기  </a:t>
            </a:r>
            <a:endParaRPr lang="en-US" altLang="ko-KR" sz="2800" spc="-150" smtClean="0">
              <a:latin typeface="+mj-ea"/>
              <a:ea typeface="+mj-ea"/>
            </a:endParaRPr>
          </a:p>
          <a:p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3.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맞춤법 퀴즈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성적 반영 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총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10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문제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-10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주차 보강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+12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주차 수업 강의 내용 반영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+) </a:t>
            </a:r>
            <a:r>
              <a:rPr lang="en-US" altLang="ko-KR" sz="2800" smtClean="0"/>
              <a:t>2025-02 </a:t>
            </a:r>
            <a:r>
              <a:rPr lang="en-US" altLang="ko-KR" sz="2800"/>
              <a:t>&lt;</a:t>
            </a:r>
            <a:r>
              <a:rPr lang="ko-KR" altLang="en-US" sz="2800"/>
              <a:t>글쓰기의 기초</a:t>
            </a:r>
            <a:r>
              <a:rPr lang="en-US" altLang="ko-KR" sz="2800"/>
              <a:t>&gt;</a:t>
            </a:r>
            <a:r>
              <a:rPr lang="ko-KR" altLang="en-US" sz="2800"/>
              <a:t>를 수강하며 느낀 점 작성하기</a:t>
            </a:r>
          </a:p>
          <a:p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kumimoji="0" lang="en-US" altLang="ko-KR" sz="2800" b="0" i="0" u="none" strike="noStrike" kern="1200" cap="none" spc="-150" normalizeH="0" baseline="0" noProof="0" dirty="0">
              <a:ln>
                <a:noFill/>
              </a:ln>
              <a:solidFill>
                <a:srgbClr val="3399FF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532440" y="6391568"/>
            <a:ext cx="44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20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79512" y="683522"/>
            <a:ext cx="882980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AutoNum type="arabicPeriod" startAt="4"/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교재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살피기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chapter 2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자료의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분석과 활용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3.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자료의 윤리적 활용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~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인용과 주석</a:t>
            </a:r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800" spc="-150" smtClean="0">
                <a:latin typeface="+mn-ea"/>
              </a:rPr>
              <a:t>기말고사 논증문도 중간고사 비평문과 마찬가지로 </a:t>
            </a:r>
            <a:r>
              <a:rPr lang="en-US" altLang="ko-KR" sz="2800" spc="-150" smtClean="0">
                <a:latin typeface="+mn-ea"/>
              </a:rPr>
              <a:t>“</a:t>
            </a:r>
            <a:r>
              <a:rPr lang="ko-KR" altLang="en-US" sz="2800" spc="-150" smtClean="0">
                <a:latin typeface="+mn-ea"/>
              </a:rPr>
              <a:t>표절 검증 프로그램</a:t>
            </a:r>
            <a:r>
              <a:rPr lang="en-US" altLang="ko-KR" sz="2800" spc="-150" smtClean="0">
                <a:latin typeface="+mn-ea"/>
              </a:rPr>
              <a:t>＂</a:t>
            </a:r>
            <a:r>
              <a:rPr lang="ko-KR" altLang="en-US" sz="2800" spc="-150" smtClean="0">
                <a:latin typeface="+mn-ea"/>
              </a:rPr>
              <a:t>을 통해 표절 여부 확인 예정</a:t>
            </a:r>
            <a:endParaRPr lang="en-US" altLang="ko-KR" sz="2800" spc="-150" smtClean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800" spc="-150" smtClean="0">
                <a:solidFill>
                  <a:srgbClr val="3399FF"/>
                </a:solidFill>
                <a:latin typeface="+mn-ea"/>
              </a:rPr>
              <a:t>- 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올바른 인용 방식과 주석 다는 법 숙지</a:t>
            </a:r>
            <a:r>
              <a:rPr lang="ko-KR" altLang="en-US" sz="2800" spc="-150" smtClean="0">
                <a:latin typeface="+mn-ea"/>
              </a:rPr>
              <a:t>하고 따르기</a:t>
            </a:r>
            <a:r>
              <a:rPr lang="en-US" altLang="ko-KR" sz="2800" spc="-150">
                <a:latin typeface="+mn-ea"/>
              </a:rPr>
              <a:t>:</a:t>
            </a:r>
            <a:r>
              <a:rPr lang="en-US" altLang="ko-KR" sz="2800" spc="-150" smtClean="0">
                <a:latin typeface="+mn-ea"/>
              </a:rPr>
              <a:t>  57~64. </a:t>
            </a:r>
          </a:p>
          <a:p>
            <a:pPr algn="just">
              <a:lnSpc>
                <a:spcPct val="150000"/>
              </a:lnSpc>
            </a:pPr>
            <a:r>
              <a:rPr lang="en-US" altLang="ko-KR" sz="2800" spc="-150" smtClean="0">
                <a:latin typeface="+mn-ea"/>
              </a:rPr>
              <a:t>* </a:t>
            </a:r>
            <a:r>
              <a:rPr lang="ko-KR" altLang="en-US" sz="2800" u="sng" spc="-150" smtClean="0">
                <a:latin typeface="+mn-ea"/>
              </a:rPr>
              <a:t>무분별한</a:t>
            </a:r>
            <a:r>
              <a:rPr lang="en-US" altLang="ko-KR" sz="2800" u="sng" spc="-150" smtClean="0">
                <a:latin typeface="+mn-ea"/>
              </a:rPr>
              <a:t> </a:t>
            </a:r>
            <a:r>
              <a:rPr lang="ko-KR" altLang="en-US" sz="2800" u="sng" spc="-150" smtClean="0">
                <a:latin typeface="+mn-ea"/>
              </a:rPr>
              <a:t>인용은 글을 산만하게 만들고 글의 무게감을 떨어뜨리므로 전후 맥락에 맞게 활용할 필요</a:t>
            </a:r>
            <a:endParaRPr lang="en-US" altLang="ko-KR" sz="2800" u="sng" spc="-150" smtClean="0">
              <a:latin typeface="+mn-ea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97911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532440" y="6391568"/>
            <a:ext cx="44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82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23575" y="7285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981846" y="1283995"/>
            <a:ext cx="2805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 </a:t>
            </a:r>
            <a:r>
              <a:rPr kumimoji="0" lang="ko-KR" altLang="en-US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</a:t>
            </a:r>
            <a:endParaRPr kumimoji="0" lang="ko-KR" altLang="en-US" sz="20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60432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5091" y="558701"/>
            <a:ext cx="897381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4.  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교재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살피기 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chapter 4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서술의 방법과 전략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</a:t>
            </a: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3.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서론과 결론 쓰기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제목 붙이기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</a:t>
            </a: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-&lt;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교재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p. 117: 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서론의</a:t>
            </a:r>
            <a:r>
              <a:rPr lang="en-US" altLang="ko-KR" sz="2800" spc="-150" smtClean="0">
                <a:solidFill>
                  <a:srgbClr val="3399FF"/>
                </a:solidFill>
                <a:latin typeface="+mn-ea"/>
              </a:rPr>
              <a:t> 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목표는 </a:t>
            </a:r>
            <a:r>
              <a:rPr lang="en-US" altLang="ko-KR" sz="2800" spc="-150" smtClean="0">
                <a:solidFill>
                  <a:srgbClr val="3399FF"/>
                </a:solidFill>
                <a:latin typeface="+mn-ea"/>
              </a:rPr>
              <a:t>‘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흥미끌기</a:t>
            </a:r>
            <a:r>
              <a:rPr lang="en-US" altLang="ko-KR" sz="2800" spc="-150" smtClean="0">
                <a:solidFill>
                  <a:srgbClr val="3399FF"/>
                </a:solidFill>
                <a:latin typeface="+mn-ea"/>
              </a:rPr>
              <a:t>’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와 </a:t>
            </a:r>
            <a:r>
              <a:rPr lang="en-US" altLang="ko-KR" sz="2800" spc="-150" smtClean="0">
                <a:solidFill>
                  <a:srgbClr val="3399FF"/>
                </a:solidFill>
                <a:latin typeface="+mn-ea"/>
              </a:rPr>
              <a:t>‘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방향</a:t>
            </a:r>
            <a:r>
              <a:rPr lang="en-US" altLang="ko-KR" sz="2800" spc="-150" smtClean="0">
                <a:solidFill>
                  <a:srgbClr val="3399FF"/>
                </a:solidFill>
                <a:latin typeface="+mn-ea"/>
              </a:rPr>
              <a:t>(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방법</a:t>
            </a:r>
            <a:r>
              <a:rPr lang="en-US" altLang="ko-KR" sz="2800" spc="-150" smtClean="0">
                <a:solidFill>
                  <a:srgbClr val="3399FF"/>
                </a:solidFill>
                <a:latin typeface="+mn-ea"/>
              </a:rPr>
              <a:t>,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                     범위</a:t>
            </a:r>
            <a:r>
              <a:rPr lang="en-US" altLang="ko-KR" sz="2800" spc="-150" smtClean="0">
                <a:solidFill>
                  <a:srgbClr val="3399FF"/>
                </a:solidFill>
                <a:latin typeface="+mn-ea"/>
              </a:rPr>
              <a:t>) 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제시</a:t>
            </a:r>
            <a:r>
              <a:rPr lang="en-US" altLang="ko-KR" sz="2800" spc="-150" smtClean="0">
                <a:solidFill>
                  <a:srgbClr val="3399FF"/>
                </a:solidFill>
                <a:latin typeface="+mn-ea"/>
              </a:rPr>
              <a:t>‘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</a:p>
          <a:p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(2)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서론을 쓰는 방법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글의 주제나 중요한 내용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글의 방향과 목적 전개하기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:117</a:t>
            </a: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최근 사건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의미 있는 통계나 수치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경험한 일화나 읽거나 들은 구체적인 예시 중 글의 주제와 연관되는 내용을 서술하며 시작하기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118</a:t>
            </a: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글의 주제와 연관된 중심 용어나 중요한 개념을 정의하며 글을 시작하기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119~120.</a:t>
            </a:r>
          </a:p>
        </p:txBody>
      </p:sp>
    </p:spTree>
    <p:extLst>
      <p:ext uri="{BB962C8B-B14F-4D97-AF65-F5344CB8AC3E}">
        <p14:creationId xmlns:p14="http://schemas.microsoft.com/office/powerpoint/2010/main" val="132247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23575" y="7285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981846" y="1283995"/>
            <a:ext cx="2805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 </a:t>
            </a:r>
            <a:r>
              <a:rPr kumimoji="0" lang="ko-KR" altLang="en-US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</a:t>
            </a:r>
            <a:endParaRPr kumimoji="0" lang="ko-KR" altLang="en-US" sz="20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60432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495" y="612807"/>
            <a:ext cx="897381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4.  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교재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살피기 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chapter 4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서술의 방법과 전략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 </a:t>
            </a: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3.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서론과 결론 쓰기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제목 붙이기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</a:t>
            </a: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-&lt;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교재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p. 120: 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중요한 것은 결론 부분에서 새로운 내용을 내세우지 않는 것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적절한 기대나 전망 등을 붙일 수는 있지만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u="sng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본론의 내용을 잘 요약해주는 것만으로도 충분</a:t>
            </a:r>
            <a:endParaRPr lang="en-US" altLang="ko-KR" sz="2800" u="sng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(2)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결론을 쓰는 방법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서론과 본론에서 전개한 내용을 요약하기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:120~121</a:t>
            </a: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서론과 본론에서 전개한 내용에 대해 최종적인 주장과 판단을 서술하기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121</a:t>
            </a: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글의 내용을 독자에게 각인시키기 위한 기대와 당부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122</a:t>
            </a:r>
          </a:p>
        </p:txBody>
      </p:sp>
    </p:spTree>
    <p:extLst>
      <p:ext uri="{BB962C8B-B14F-4D97-AF65-F5344CB8AC3E}">
        <p14:creationId xmlns:p14="http://schemas.microsoft.com/office/powerpoint/2010/main" val="176053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23575" y="7285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981846" y="1283995"/>
            <a:ext cx="2805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 </a:t>
            </a:r>
            <a:r>
              <a:rPr kumimoji="0" lang="ko-KR" altLang="en-US" sz="20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rPr>
              <a:t> </a:t>
            </a:r>
            <a:endParaRPr kumimoji="0" lang="ko-KR" altLang="en-US" sz="20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-윤고딕320" panose="02030504000101010101" pitchFamily="18" charset="-127"/>
              <a:ea typeface="-윤고딕320" panose="02030504000101010101" pitchFamily="18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60432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528" y="612807"/>
            <a:ext cx="864096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4.  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교재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살피기 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chapter 5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서술의 검토와 조정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제목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문장 형태나 주제문 간략화 한 형태 가능 </a:t>
            </a:r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ko-KR" altLang="en-US" sz="2800" spc="-150">
                <a:latin typeface="+mn-ea"/>
              </a:rPr>
              <a:t>서론</a:t>
            </a:r>
            <a:r>
              <a:rPr lang="en-US" altLang="ko-KR" sz="2800" spc="-150">
                <a:latin typeface="+mn-ea"/>
              </a:rPr>
              <a:t>: </a:t>
            </a:r>
            <a:r>
              <a:rPr lang="ko-KR" altLang="en-US" sz="2800" spc="-150">
                <a:latin typeface="+mn-ea"/>
              </a:rPr>
              <a:t>문제의 심각성 알리는 통계나 뉴스</a:t>
            </a:r>
            <a:r>
              <a:rPr lang="en-US" altLang="ko-KR" sz="2800" spc="-150">
                <a:latin typeface="+mn-ea"/>
              </a:rPr>
              <a:t>-&gt;</a:t>
            </a:r>
            <a:r>
              <a:rPr lang="ko-KR" altLang="en-US" sz="2800" spc="-150">
                <a:latin typeface="+mn-ea"/>
              </a:rPr>
              <a:t>문제제기</a:t>
            </a:r>
            <a:endParaRPr lang="en-US" altLang="ko-KR" sz="2800" spc="-150">
              <a:latin typeface="+mn-ea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ko-KR" altLang="en-US" sz="2800" spc="-150">
                <a:latin typeface="+mn-ea"/>
              </a:rPr>
              <a:t>본론 </a:t>
            </a:r>
            <a:r>
              <a:rPr lang="en-US" altLang="ko-KR" sz="2800" spc="-150">
                <a:latin typeface="+mn-ea"/>
              </a:rPr>
              <a:t>1: </a:t>
            </a:r>
            <a:r>
              <a:rPr lang="ko-KR" altLang="en-US" sz="2800" spc="-150">
                <a:latin typeface="+mn-ea"/>
              </a:rPr>
              <a:t>문제의 주요 원인 및 배경</a:t>
            </a:r>
            <a:endParaRPr lang="en-US" altLang="ko-KR" sz="2800" spc="-150">
              <a:latin typeface="+mn-ea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ko-KR" altLang="en-US" sz="2800" spc="-150">
                <a:latin typeface="+mn-ea"/>
              </a:rPr>
              <a:t>본론 </a:t>
            </a:r>
            <a:r>
              <a:rPr lang="en-US" altLang="ko-KR" sz="2800" spc="-150">
                <a:latin typeface="+mn-ea"/>
              </a:rPr>
              <a:t>2: </a:t>
            </a:r>
            <a:r>
              <a:rPr lang="ko-KR" altLang="en-US" sz="2800" spc="-150">
                <a:latin typeface="+mn-ea"/>
              </a:rPr>
              <a:t>문제의 주요 이유 </a:t>
            </a:r>
            <a:r>
              <a:rPr lang="en-US" altLang="ko-KR" sz="2800" spc="-150">
                <a:latin typeface="+mn-ea"/>
              </a:rPr>
              <a:t>2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ko-KR" altLang="en-US" sz="2800" spc="-150">
                <a:latin typeface="+mn-ea"/>
              </a:rPr>
              <a:t>본론 </a:t>
            </a:r>
            <a:r>
              <a:rPr lang="en-US" altLang="ko-KR" sz="2800" spc="-150">
                <a:latin typeface="+mn-ea"/>
              </a:rPr>
              <a:t>3: </a:t>
            </a:r>
            <a:r>
              <a:rPr lang="ko-KR" altLang="en-US" sz="2800" spc="-150">
                <a:latin typeface="+mn-ea"/>
              </a:rPr>
              <a:t>대안과 해결 방안</a:t>
            </a:r>
            <a:endParaRPr lang="en-US" altLang="ko-KR" sz="2800" spc="-150">
              <a:latin typeface="+mn-ea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ko-KR" altLang="en-US" sz="2800" spc="-150">
                <a:latin typeface="+mn-ea"/>
              </a:rPr>
              <a:t>결론</a:t>
            </a:r>
            <a:r>
              <a:rPr lang="en-US" altLang="ko-KR" sz="2800" spc="-150">
                <a:latin typeface="+mn-ea"/>
              </a:rPr>
              <a:t>: </a:t>
            </a:r>
            <a:r>
              <a:rPr lang="ko-KR" altLang="en-US" sz="2800" spc="-150">
                <a:latin typeface="+mn-ea"/>
              </a:rPr>
              <a:t>요약 및 주장 강조</a:t>
            </a:r>
            <a:r>
              <a:rPr lang="en-US" altLang="ko-KR" sz="2800" spc="-150">
                <a:latin typeface="+mn-ea"/>
              </a:rPr>
              <a:t>; </a:t>
            </a:r>
            <a:r>
              <a:rPr lang="ko-KR" altLang="en-US" sz="2800" spc="-150">
                <a:latin typeface="+mn-ea"/>
              </a:rPr>
              <a:t>서론</a:t>
            </a:r>
            <a:r>
              <a:rPr lang="en-US" altLang="ko-KR" sz="2800" spc="-150">
                <a:latin typeface="+mn-ea"/>
              </a:rPr>
              <a:t>-</a:t>
            </a:r>
            <a:r>
              <a:rPr lang="ko-KR" altLang="en-US" sz="2800" spc="-150">
                <a:latin typeface="+mn-ea"/>
              </a:rPr>
              <a:t>제목과 연결되면 일관성과 유기성을 높일 수 있음</a:t>
            </a:r>
            <a:endParaRPr lang="en-US" altLang="ko-KR" sz="2800" spc="-150">
              <a:latin typeface="+mn-ea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US" altLang="ko-KR" sz="2800" spc="-150">
              <a:latin typeface="+mn-ea"/>
            </a:endParaRPr>
          </a:p>
          <a:p>
            <a:pPr lvl="0" algn="just"/>
            <a:r>
              <a:rPr lang="en-US" altLang="ko-KR" sz="2800" spc="-150">
                <a:solidFill>
                  <a:srgbClr val="3399FF"/>
                </a:solidFill>
                <a:latin typeface="+mn-ea"/>
              </a:rPr>
              <a:t>++) </a:t>
            </a:r>
            <a:r>
              <a:rPr lang="ko-KR" altLang="en-US" sz="2800" spc="-150">
                <a:solidFill>
                  <a:srgbClr val="3399FF"/>
                </a:solidFill>
                <a:latin typeface="+mn-ea"/>
              </a:rPr>
              <a:t>문단 새로 시작할 때 적절한 접속사 </a:t>
            </a:r>
            <a:endParaRPr lang="en-US" altLang="ko-KR" sz="2800" spc="-150">
              <a:solidFill>
                <a:srgbClr val="3399FF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endParaRPr kumimoji="0" lang="en-US" altLang="ko-KR" sz="2000" b="0" i="0" u="none" strike="noStrike" kern="1200" cap="none" spc="0" normalizeH="0" baseline="0" noProof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11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46814" y="520120"/>
            <a:ext cx="882980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 startAt="4"/>
            </a:pP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교재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chapter 5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서술의 검토와 조정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800" spc="-150" smtClean="0">
                <a:latin typeface="+mn-ea"/>
              </a:rPr>
              <a:t>- pp. 128~129: </a:t>
            </a:r>
            <a:r>
              <a:rPr lang="ko-KR" altLang="en-US" sz="2800" spc="-150" smtClean="0">
                <a:latin typeface="+mn-ea"/>
              </a:rPr>
              <a:t>고쳐쓸 때 확인</a:t>
            </a:r>
            <a:r>
              <a:rPr lang="ko-KR" altLang="en-US" sz="2800" spc="-150">
                <a:latin typeface="+mn-ea"/>
              </a:rPr>
              <a:t>할</a:t>
            </a:r>
            <a:r>
              <a:rPr lang="ko-KR" altLang="en-US" sz="2800" spc="-150" smtClean="0">
                <a:latin typeface="+mn-ea"/>
              </a:rPr>
              <a:t> 사항</a:t>
            </a:r>
            <a:endParaRPr lang="en-US" altLang="ko-KR" sz="2800" spc="-150" smtClean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800" spc="-150" smtClean="0">
                <a:latin typeface="+mn-ea"/>
              </a:rPr>
              <a:t>“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줄이기</a:t>
            </a:r>
            <a:r>
              <a:rPr lang="en-US" altLang="ko-KR" sz="2800" spc="-150" smtClean="0">
                <a:solidFill>
                  <a:srgbClr val="3399FF"/>
                </a:solidFill>
                <a:latin typeface="+mn-ea"/>
              </a:rPr>
              <a:t>“: </a:t>
            </a:r>
            <a:r>
              <a:rPr lang="ko-KR" altLang="en-US" sz="2800" spc="-150" smtClean="0">
                <a:solidFill>
                  <a:srgbClr val="3399FF"/>
                </a:solidFill>
                <a:latin typeface="+mn-ea"/>
              </a:rPr>
              <a:t>대체로 글은 줄이면 좋아진다</a:t>
            </a:r>
            <a:r>
              <a:rPr lang="en-US" altLang="ko-KR" sz="2800" spc="-150" smtClean="0">
                <a:solidFill>
                  <a:srgbClr val="3399FF"/>
                </a:solidFill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spc="-150" smtClean="0">
                <a:latin typeface="+mn-ea"/>
              </a:rPr>
              <a:t>문장이 어색한데 잘 고쳐지지 않는다면 삭제하기 </a:t>
            </a:r>
            <a:endParaRPr lang="en-US" altLang="ko-KR" sz="2800" spc="-15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spc="-150" smtClean="0">
                <a:latin typeface="+mn-ea"/>
              </a:rPr>
              <a:t>중심 생각이 잘 부각되지 않으면서 장황하게만 느껴진다면 엇비슷한 내용이 반복되고 있는지 확인하기 </a:t>
            </a:r>
            <a:endParaRPr lang="en-US" altLang="ko-KR" sz="2800" spc="-15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800" spc="-150" smtClean="0">
                <a:latin typeface="+mn-ea"/>
              </a:rPr>
              <a:t> AI </a:t>
            </a:r>
            <a:r>
              <a:rPr lang="ko-KR" altLang="en-US" sz="2800" spc="-150" smtClean="0">
                <a:latin typeface="+mn-ea"/>
              </a:rPr>
              <a:t>사용 전면 금지의 의미</a:t>
            </a:r>
            <a:r>
              <a:rPr lang="en-US" altLang="ko-KR" sz="2800" spc="-150" smtClean="0">
                <a:latin typeface="+mn-ea"/>
              </a:rPr>
              <a:t>: </a:t>
            </a:r>
            <a:r>
              <a:rPr lang="ko-KR" altLang="en-US" sz="2800" spc="-150" smtClean="0">
                <a:latin typeface="+mn-ea"/>
              </a:rPr>
              <a:t>퇴고 과정에서도 </a:t>
            </a:r>
            <a:r>
              <a:rPr lang="en-US" altLang="ko-KR" sz="2800" spc="-150" smtClean="0">
                <a:latin typeface="+mn-ea"/>
              </a:rPr>
              <a:t>AI </a:t>
            </a:r>
            <a:r>
              <a:rPr lang="ko-KR" altLang="en-US" sz="2800" spc="-150" smtClean="0">
                <a:latin typeface="+mn-ea"/>
              </a:rPr>
              <a:t>사용 배제</a:t>
            </a:r>
            <a:r>
              <a:rPr lang="en-US" altLang="ko-KR" sz="2800" spc="-150" smtClean="0">
                <a:latin typeface="+mn-ea"/>
              </a:rPr>
              <a:t>: </a:t>
            </a:r>
            <a:r>
              <a:rPr lang="ko-KR" altLang="en-US" sz="2800" spc="-150" smtClean="0">
                <a:latin typeface="+mn-ea"/>
              </a:rPr>
              <a:t>특히 윤문이나 어휘 </a:t>
            </a:r>
            <a:endParaRPr lang="en-US" altLang="ko-KR" sz="2800" spc="-150" smtClean="0">
              <a:latin typeface="+mn-ea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532440" y="6391568"/>
            <a:ext cx="44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06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79512" y="548680"/>
            <a:ext cx="882980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2 .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고쳐쓰기의 몇 가지 원칙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</a:t>
            </a:r>
            <a:r>
              <a:rPr lang="en-US" altLang="ko-KR" sz="32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2) </a:t>
            </a:r>
            <a:r>
              <a:rPr lang="ko-KR" altLang="en-US" sz="32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첨가</a:t>
            </a:r>
            <a:r>
              <a:rPr lang="en-US" altLang="ko-KR" sz="32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132~134 </a:t>
            </a:r>
            <a:r>
              <a:rPr lang="ko-KR" altLang="en-US" sz="32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읽기</a:t>
            </a:r>
            <a:endParaRPr lang="en-US" altLang="ko-KR" sz="32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indent="-457200" algn="just">
              <a:buFontTx/>
              <a:buChar char="-"/>
            </a:pPr>
            <a:r>
              <a:rPr lang="ko-KR" altLang="en-US" sz="3200" spc="-150" smtClean="0">
                <a:latin typeface="+mn-ea"/>
              </a:rPr>
              <a:t>설명이나</a:t>
            </a:r>
            <a:r>
              <a:rPr lang="en-US" altLang="ko-KR" sz="3200" spc="-150" smtClean="0">
                <a:latin typeface="+mn-ea"/>
              </a:rPr>
              <a:t> </a:t>
            </a:r>
            <a:r>
              <a:rPr lang="ko-KR" altLang="en-US" sz="3200" spc="-150" smtClean="0">
                <a:latin typeface="+mn-ea"/>
              </a:rPr>
              <a:t>논증 등으로 서술 보강</a:t>
            </a:r>
            <a:endParaRPr lang="en-US" altLang="ko-KR" sz="3200" spc="-150" smtClean="0">
              <a:latin typeface="+mn-ea"/>
            </a:endParaRPr>
          </a:p>
          <a:p>
            <a:pPr algn="just"/>
            <a:r>
              <a:rPr lang="en-US" altLang="ko-KR" sz="3200" spc="-150" smtClean="0">
                <a:solidFill>
                  <a:srgbClr val="00B050"/>
                </a:solidFill>
                <a:latin typeface="+mn-ea"/>
              </a:rPr>
              <a:t>+) </a:t>
            </a:r>
            <a:r>
              <a:rPr lang="ko-KR" altLang="en-US" sz="3200" spc="-150" smtClean="0">
                <a:solidFill>
                  <a:srgbClr val="00B050"/>
                </a:solidFill>
                <a:latin typeface="+mn-ea"/>
              </a:rPr>
              <a:t>논증문에 적합한 문체를 확인하기</a:t>
            </a:r>
            <a:endParaRPr lang="en-US" altLang="ko-KR" sz="3200" spc="-150" smtClean="0">
              <a:solidFill>
                <a:srgbClr val="00B050"/>
              </a:solidFill>
              <a:latin typeface="+mn-ea"/>
            </a:endParaRPr>
          </a:p>
          <a:p>
            <a:pPr marL="457200" lvl="0" indent="-457200" algn="just">
              <a:buFontTx/>
              <a:buChar char="-"/>
            </a:pPr>
            <a:endParaRPr lang="en-US" altLang="ko-KR" sz="3200" spc="-150">
              <a:latin typeface="+mn-ea"/>
            </a:endParaRPr>
          </a:p>
          <a:p>
            <a:pPr lvl="0" algn="just"/>
            <a:r>
              <a:rPr lang="en-US" altLang="ko-KR" sz="3200" spc="-150" smtClean="0">
                <a:solidFill>
                  <a:srgbClr val="3399FF"/>
                </a:solidFill>
                <a:latin typeface="+mn-ea"/>
              </a:rPr>
              <a:t> 3) </a:t>
            </a:r>
            <a:r>
              <a:rPr lang="ko-KR" altLang="en-US" sz="3200" spc="-150" smtClean="0">
                <a:solidFill>
                  <a:srgbClr val="3399FF"/>
                </a:solidFill>
                <a:latin typeface="+mn-ea"/>
              </a:rPr>
              <a:t>재구성</a:t>
            </a:r>
            <a:r>
              <a:rPr lang="en-US" altLang="ko-KR" sz="3200" spc="-15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: pp. </a:t>
            </a:r>
            <a:r>
              <a:rPr lang="en-US" altLang="ko-KR" sz="3200" spc="-150" smtClean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134~143;  </a:t>
            </a:r>
            <a:r>
              <a:rPr lang="ko-KR" altLang="en-US" sz="3200" spc="-15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효과적인 구성과 전달을 위해 </a:t>
            </a:r>
            <a:r>
              <a:rPr lang="ko-KR" altLang="en-US" sz="3200" spc="-150" smtClean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문단 </a:t>
            </a:r>
            <a:r>
              <a:rPr lang="ko-KR" altLang="en-US" sz="3200" spc="-15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배열을 수정한다</a:t>
            </a:r>
            <a:r>
              <a:rPr lang="en-US" altLang="ko-KR" sz="3200" spc="-15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. </a:t>
            </a:r>
            <a:endParaRPr lang="en-US" altLang="ko-KR" sz="3200" spc="-150" smtClean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lvl="0" algn="just"/>
            <a:r>
              <a:rPr lang="ko-KR" altLang="en-US" sz="3200" spc="-150" smtClean="0">
                <a:solidFill>
                  <a:srgbClr val="3399FF"/>
                </a:solidFill>
                <a:latin typeface="+mn-ea"/>
              </a:rPr>
              <a:t>전달하고자 </a:t>
            </a:r>
            <a:r>
              <a:rPr lang="ko-KR" altLang="en-US" sz="3200" spc="-150">
                <a:solidFill>
                  <a:srgbClr val="3399FF"/>
                </a:solidFill>
                <a:latin typeface="+mn-ea"/>
              </a:rPr>
              <a:t>하는 중요한 내용을 강조하는 방향으로 구성하기 </a:t>
            </a:r>
            <a:endParaRPr lang="en-US" altLang="ko-KR" sz="3200" spc="-150" smtClean="0">
              <a:solidFill>
                <a:srgbClr val="3399FF"/>
              </a:solidFill>
              <a:latin typeface="+mn-ea"/>
            </a:endParaRPr>
          </a:p>
          <a:p>
            <a:pPr lvl="0" algn="just"/>
            <a:endParaRPr lang="en-US" altLang="ko-KR" sz="3200" spc="-15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altLang="ko-KR" sz="3200" spc="-150">
              <a:latin typeface="+mn-ea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532440" y="6391568"/>
            <a:ext cx="44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15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559889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7504" y="559889"/>
            <a:ext cx="89018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2400" u="sng" spc="-150" dirty="0">
              <a:solidFill>
                <a:srgbClr val="00B05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u="sng" spc="-150" dirty="0">
              <a:solidFill>
                <a:srgbClr val="00B050"/>
              </a:solidFill>
              <a:latin typeface="+mn-ea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460432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22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7505" y="631905"/>
            <a:ext cx="890180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32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고쳐쓰기</a:t>
            </a:r>
            <a:r>
              <a:rPr lang="en-US" altLang="ko-KR" sz="3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3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문단 </a:t>
            </a:r>
            <a:r>
              <a:rPr lang="ko-KR" altLang="en-US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배열 </a:t>
            </a:r>
            <a:r>
              <a:rPr lang="ko-KR" altLang="en-US" sz="32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재구성</a:t>
            </a:r>
            <a:endParaRPr lang="en-US" altLang="ko-KR" sz="3200" spc="-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청소년 마약</a:t>
            </a:r>
            <a:r>
              <a:rPr lang="en-US" altLang="ko-KR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짐작보다 심각하다</a:t>
            </a:r>
            <a:r>
              <a:rPr lang="en-US" altLang="ko-KR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: 134~140</a:t>
            </a:r>
            <a:r>
              <a:rPr lang="ko-KR" altLang="en-US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쪽</a:t>
            </a:r>
            <a:endParaRPr lang="en-US" altLang="ko-KR" sz="32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연습문제 </a:t>
            </a:r>
            <a:r>
              <a:rPr lang="en-US" altLang="ko-KR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02-</a:t>
            </a:r>
            <a:r>
              <a:rPr lang="ko-KR" altLang="en-US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우수과제 추천 예문</a:t>
            </a:r>
            <a:r>
              <a:rPr lang="en-US" altLang="ko-KR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&gt;: 140~143</a:t>
            </a:r>
            <a:r>
              <a:rPr lang="ko-KR" altLang="en-US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쪽</a:t>
            </a:r>
            <a:endParaRPr lang="en-US" altLang="ko-KR" sz="32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32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실제 예문 개요 확인하기 </a:t>
            </a:r>
            <a:endParaRPr lang="en-US" altLang="ko-KR" sz="32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32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+) </a:t>
            </a:r>
            <a:r>
              <a:rPr lang="ko-KR" altLang="en-US" sz="32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실습지에 작성</a:t>
            </a:r>
            <a:r>
              <a:rPr lang="en-US" altLang="ko-KR" sz="32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en-US" altLang="ko-KR" sz="3200"/>
              <a:t>140~143</a:t>
            </a:r>
            <a:r>
              <a:rPr lang="ko-KR" altLang="en-US" sz="3200"/>
              <a:t>쪽의 지문을 순서에 맞도록 재배열한 후 개요 유추하기</a:t>
            </a:r>
          </a:p>
          <a:p>
            <a:pPr>
              <a:lnSpc>
                <a:spcPct val="150000"/>
              </a:lnSpc>
            </a:pPr>
            <a:endParaRPr lang="en-US" altLang="ko-KR" sz="32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194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5496" y="548680"/>
            <a:ext cx="9108504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 p. 137. (2)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수정 과정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논증문에 적합한 문단 배열 방식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문제 제기는 주로 도입부에 서술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2.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가장 핵심적인 논거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은 주로 문제 제기에 이어서 서술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핵심 논거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서술 후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이를 바탕으로 논거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서술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대안과 해결 방안은 주장과 논거들 서술 후 제시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5.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종결부에서는 글을 요약하고 주장 환기 및 강조하기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en-US" altLang="ko-KR" sz="2800" spc="-15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&lt;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교재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&gt; pp. 140~143.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연습문제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</a:t>
            </a: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문제 제기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현상 분석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대안 제시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’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의 전개 방식을 염두에 두고 다음의 </a:t>
            </a:r>
            <a:r>
              <a:rPr lang="ko-KR" altLang="en-US" sz="2800" smtClean="0"/>
              <a:t>①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~</a:t>
            </a:r>
            <a:r>
              <a:rPr lang="ko-KR" altLang="en-US" sz="2800" smtClean="0"/>
              <a:t>⑤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를 재배열해 보자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실습지에 작성 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*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답안은 교재에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X,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실제 제출 받은 과제 확인</a:t>
            </a:r>
            <a:endParaRPr lang="en-US" altLang="ko-KR" sz="3200" spc="-15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altLang="ko-KR" sz="3200" spc="-150">
              <a:latin typeface="+mn-ea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532440" y="6391568"/>
            <a:ext cx="44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664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476664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C:\Users\admin\Desktop\양수열\2013년\시안\로고\UI\한신대학교-로고(투명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193" y="143527"/>
            <a:ext cx="1080120" cy="21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79997" y="481329"/>
            <a:ext cx="8829801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 startAt="5"/>
              <a:defRPr/>
            </a:pP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개별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실습</a:t>
            </a:r>
            <a:r>
              <a:rPr lang="en-US" altLang="ko-KR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논증문 작성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실습지 사진촬영 후 제출</a:t>
            </a:r>
            <a:endParaRPr lang="en-US" altLang="ko-KR" sz="2800" spc="-15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defRPr/>
            </a:pPr>
            <a:r>
              <a:rPr lang="en-US" altLang="ko-KR" sz="2800" spc="-150" noProof="0" smtClean="0">
                <a:solidFill>
                  <a:srgbClr val="00B050"/>
                </a:solidFill>
                <a:latin typeface="+mn-ea"/>
              </a:rPr>
              <a:t>+) </a:t>
            </a:r>
            <a:r>
              <a:rPr lang="ko-KR" altLang="en-US" sz="2800" spc="-150" noProof="0" smtClean="0">
                <a:solidFill>
                  <a:srgbClr val="00B050"/>
                </a:solidFill>
                <a:latin typeface="+mn-ea"/>
              </a:rPr>
              <a:t>설문조사 참여하기</a:t>
            </a:r>
            <a:r>
              <a:rPr lang="en-US" altLang="ko-KR" sz="2800" spc="-150" noProof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LMS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공지사항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설문조사 사이트 링크로 접속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소요 예상 시간</a:t>
            </a:r>
            <a:r>
              <a:rPr lang="en-US" altLang="ko-KR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3~5</a:t>
            </a:r>
            <a:r>
              <a:rPr lang="ko-KR" altLang="en-US" sz="2800" spc="-15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분 </a:t>
            </a:r>
            <a:endParaRPr lang="en-US" altLang="ko-KR" sz="2800" spc="-150" noProof="0" smtClean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800" spc="-150" noProof="0" smtClean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++) </a:t>
            </a:r>
            <a:r>
              <a:rPr lang="ko-KR" altLang="en-US" sz="2800" spc="-150" noProof="0" smtClean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글을</a:t>
            </a:r>
            <a:r>
              <a:rPr lang="en-US" altLang="ko-KR" sz="2800" spc="-150" noProof="0" smtClean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</a:t>
            </a:r>
            <a:r>
              <a:rPr lang="ko-KR" altLang="en-US" sz="2800" spc="-150" noProof="0" smtClean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쓰다가 막힐 때</a:t>
            </a:r>
            <a:endParaRPr lang="en-US" altLang="ko-KR" sz="2800" spc="-150" noProof="0" smtClean="0"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ko-KR" altLang="en-US" sz="2800"/>
              <a:t>섬 </a:t>
            </a:r>
            <a:r>
              <a:rPr lang="ko-KR" altLang="en-US" sz="2800" smtClean="0"/>
              <a:t>만들기</a:t>
            </a:r>
            <a:r>
              <a:rPr lang="en-US" altLang="ko-KR" sz="2800"/>
              <a:t>;</a:t>
            </a:r>
            <a:r>
              <a:rPr lang="en-US" altLang="ko-KR" sz="2800" smtClean="0"/>
              <a:t> </a:t>
            </a:r>
            <a:r>
              <a:rPr lang="ko-KR" altLang="en-US" sz="2800">
                <a:solidFill>
                  <a:srgbClr val="3399FF"/>
                </a:solidFill>
              </a:rPr>
              <a:t>미리 생각해둔 장면부터 쓰기</a:t>
            </a:r>
            <a:r>
              <a:rPr lang="en-US" altLang="ko-KR" sz="2800"/>
              <a:t>, </a:t>
            </a:r>
            <a:r>
              <a:rPr lang="ko-KR" altLang="en-US" sz="2800"/>
              <a:t>끌리는 쪽 </a:t>
            </a:r>
            <a:r>
              <a:rPr lang="ko-KR" altLang="en-US" sz="2800" smtClean="0"/>
              <a:t>따라가기</a:t>
            </a:r>
            <a:r>
              <a:rPr lang="en-US" altLang="ko-KR" sz="2800" smtClean="0"/>
              <a:t>; </a:t>
            </a:r>
            <a:r>
              <a:rPr lang="ko-KR" altLang="en-US" sz="2800" smtClean="0"/>
              <a:t>쓰고 싶은 부분부터 먼저 써보기 </a:t>
            </a:r>
            <a:endParaRPr lang="ko-KR" altLang="en-US" sz="2800"/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ko-KR" altLang="en-US" sz="2800" smtClean="0"/>
              <a:t>주제문과 개요 상기하며 방향성 점검하기 </a:t>
            </a:r>
            <a:endParaRPr lang="en-US" altLang="ko-KR" sz="2800"/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ko-KR" altLang="en-US" sz="2800" smtClean="0">
                <a:solidFill>
                  <a:srgbClr val="3399FF"/>
                </a:solidFill>
              </a:rPr>
              <a:t>앞으로 돌아가서 수정</a:t>
            </a:r>
            <a:r>
              <a:rPr lang="ko-KR" altLang="en-US" sz="2800" smtClean="0"/>
              <a:t>을 하면서 최대한 글을 개선해보기</a:t>
            </a:r>
            <a:endParaRPr lang="ko-KR" altLang="en-US" sz="2800"/>
          </a:p>
          <a:p>
            <a:pPr fontAlgn="base"/>
            <a:r>
              <a:rPr lang="en-US" altLang="ko-KR" sz="2800"/>
              <a:t>p. 102</a:t>
            </a:r>
            <a:r>
              <a:rPr lang="en-US" altLang="ko-KR" sz="2800" smtClean="0"/>
              <a:t>. : </a:t>
            </a:r>
            <a:r>
              <a:rPr lang="en-US" altLang="ko-KR" sz="2800" smtClean="0">
                <a:solidFill>
                  <a:srgbClr val="3399FF"/>
                </a:solidFill>
              </a:rPr>
              <a:t>“</a:t>
            </a:r>
            <a:r>
              <a:rPr lang="ko-KR" altLang="en-US" sz="2800" smtClean="0">
                <a:solidFill>
                  <a:srgbClr val="3399FF"/>
                </a:solidFill>
              </a:rPr>
              <a:t>키보드 </a:t>
            </a:r>
            <a:r>
              <a:rPr lang="ko-KR" altLang="en-US" sz="2800">
                <a:solidFill>
                  <a:srgbClr val="3399FF"/>
                </a:solidFill>
              </a:rPr>
              <a:t>위에서 손이 떠나지 않으면 영감은 금세 돌아온다</a:t>
            </a:r>
            <a:r>
              <a:rPr lang="en-US" altLang="ko-KR" sz="2800" smtClean="0">
                <a:solidFill>
                  <a:srgbClr val="3399FF"/>
                </a:solidFill>
              </a:rPr>
              <a:t>.”</a:t>
            </a:r>
            <a:endParaRPr lang="ko-KR" altLang="en-US" sz="2800">
              <a:solidFill>
                <a:srgbClr val="3399FF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400" spc="-150" noProof="0" smtClean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           * </a:t>
            </a:r>
            <a:r>
              <a:rPr lang="ko-KR" altLang="en-US" sz="2400" spc="-150" noProof="0" smtClean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출처</a:t>
            </a:r>
            <a:r>
              <a:rPr lang="en-US" altLang="ko-KR" sz="2400" spc="-15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:</a:t>
            </a:r>
            <a:r>
              <a:rPr lang="en-US" altLang="ko-KR" sz="2400" spc="-150" noProof="0" smtClean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</a:t>
            </a:r>
            <a:r>
              <a:rPr lang="ko-KR" altLang="en-US" sz="2400" spc="-150" smtClean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맷 벨 지음</a:t>
            </a:r>
            <a:r>
              <a:rPr lang="en-US" altLang="ko-KR" sz="2400" spc="-150" smtClean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, </a:t>
            </a:r>
            <a:r>
              <a:rPr lang="en-US" altLang="ko-KR" sz="2400" smtClean="0"/>
              <a:t>『</a:t>
            </a:r>
            <a:r>
              <a:rPr lang="en-US" altLang="ko-KR" sz="2400"/>
              <a:t>퇴고의 힘</a:t>
            </a:r>
            <a:r>
              <a:rPr lang="en-US" altLang="ko-KR" sz="2400" smtClean="0"/>
              <a:t>』, 김민수 </a:t>
            </a:r>
            <a:r>
              <a:rPr lang="en-US" altLang="ko-KR" sz="2400"/>
              <a:t>옮김, 윌북, 2023</a:t>
            </a:r>
            <a:r>
              <a:rPr lang="en-US" altLang="ko-KR" sz="2400" smtClean="0"/>
              <a:t>.</a:t>
            </a:r>
            <a:endParaRPr lang="en-US" altLang="ko-KR" sz="2400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73"/>
          <a:stretch/>
        </p:blipFill>
        <p:spPr bwMode="auto">
          <a:xfrm flipV="1">
            <a:off x="0" y="6785985"/>
            <a:ext cx="9144000" cy="72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532440" y="6391568"/>
            <a:ext cx="44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25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2" descr="G:\업무\한신대\png\5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54906" y="129669"/>
            <a:ext cx="781590" cy="184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Box 55"/>
          <p:cNvSpPr txBox="1"/>
          <p:nvPr/>
        </p:nvSpPr>
        <p:spPr>
          <a:xfrm>
            <a:off x="8410726" y="32653"/>
            <a:ext cx="681597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400" dirty="0" smtClean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더불어 가는 실천지성</a:t>
            </a:r>
            <a:endParaRPr lang="ko-KR" altLang="en-US" sz="400" dirty="0">
              <a:solidFill>
                <a:schemeClr val="accent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5931278"/>
            <a:ext cx="2564188" cy="52348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3568" y="2072491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0" y="2402413"/>
            <a:ext cx="9144000" cy="1944216"/>
          </a:xfrm>
          <a:prstGeom prst="rect">
            <a:avLst/>
          </a:prstGeom>
          <a:solidFill>
            <a:srgbClr val="00206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210018" y="2712801"/>
            <a:ext cx="47239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600" spc="-180">
                <a:latin typeface="Yoon 윤고딕 550_TT" panose="02090603020101020101" pitchFamily="18" charset="-127"/>
                <a:ea typeface="Yoon 윤고딕 550_TT" panose="02090603020101020101" pitchFamily="18" charset="-127"/>
                <a:cs typeface="조선일보명조" pitchFamily="18" charset="-127"/>
              </a:defRPr>
            </a:lvl1pPr>
          </a:lstStyle>
          <a:p>
            <a:pPr algn="ctr"/>
            <a:r>
              <a:rPr lang="ko-KR" altLang="en-US" sz="7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endParaRPr lang="en-US" altLang="ko-KR" sz="7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09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spc="-150" dirty="0" smtClean="0">
            <a:solidFill>
              <a:schemeClr val="tx1">
                <a:lumMod val="85000"/>
                <a:lumOff val="15000"/>
              </a:schemeClr>
            </a:solidFill>
            <a:latin typeface="-윤고딕320" panose="02030504000101010101" pitchFamily="18" charset="-127"/>
            <a:ea typeface="-윤고딕320" panose="02030504000101010101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6664</TotalTime>
  <Words>1968</Words>
  <Application>Microsoft Office PowerPoint</Application>
  <PresentationFormat>화면 슬라이드 쇼(4:3)</PresentationFormat>
  <Paragraphs>250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7" baseType="lpstr">
      <vt:lpstr>HY신명조</vt:lpstr>
      <vt:lpstr>HY헤드라인M</vt:lpstr>
      <vt:lpstr>KoPub돋움체 Bold</vt:lpstr>
      <vt:lpstr>KoPub돋움체 Light</vt:lpstr>
      <vt:lpstr>맑은 고딕</vt:lpstr>
      <vt:lpstr>바탕</vt:lpstr>
      <vt:lpstr>-윤고딕320</vt:lpstr>
      <vt:lpstr>조선일보명조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userw</cp:lastModifiedBy>
  <cp:revision>677</cp:revision>
  <cp:lastPrinted>2020-03-04T08:24:23Z</cp:lastPrinted>
  <dcterms:created xsi:type="dcterms:W3CDTF">2014-01-16T06:43:37Z</dcterms:created>
  <dcterms:modified xsi:type="dcterms:W3CDTF">2026-06-01T22:07:16Z</dcterms:modified>
</cp:coreProperties>
</file>